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comments/comment1.xml" ContentType="application/vnd.openxmlformats-officedocument.presentationml.comment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72" r:id="rId2"/>
    <p:sldId id="273" r:id="rId3"/>
    <p:sldId id="287" r:id="rId4"/>
    <p:sldId id="289" r:id="rId5"/>
    <p:sldId id="293" r:id="rId6"/>
    <p:sldId id="301" r:id="rId7"/>
    <p:sldId id="335" r:id="rId8"/>
    <p:sldId id="336" r:id="rId9"/>
    <p:sldId id="339" r:id="rId10"/>
    <p:sldId id="337" r:id="rId11"/>
    <p:sldId id="338" r:id="rId12"/>
    <p:sldId id="340" r:id="rId13"/>
    <p:sldId id="308" r:id="rId14"/>
    <p:sldId id="309" r:id="rId15"/>
    <p:sldId id="310" r:id="rId16"/>
    <p:sldId id="311" r:id="rId17"/>
    <p:sldId id="334" r:id="rId18"/>
    <p:sldId id="333" r:id="rId19"/>
    <p:sldId id="328" r:id="rId20"/>
    <p:sldId id="332"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0CAEB7-F8C4-40B1-A82D-CAD326B252D3}">
          <p14:sldIdLst>
            <p14:sldId id="272"/>
            <p14:sldId id="273"/>
            <p14:sldId id="287"/>
            <p14:sldId id="289"/>
            <p14:sldId id="293"/>
            <p14:sldId id="301"/>
            <p14:sldId id="335"/>
            <p14:sldId id="336"/>
            <p14:sldId id="339"/>
            <p14:sldId id="337"/>
            <p14:sldId id="338"/>
            <p14:sldId id="340"/>
            <p14:sldId id="308"/>
            <p14:sldId id="309"/>
            <p14:sldId id="310"/>
            <p14:sldId id="311"/>
            <p14:sldId id="334"/>
            <p14:sldId id="333"/>
            <p14:sldId id="328"/>
            <p14:sldId id="332"/>
          </p14:sldIdLst>
        </p14:section>
      </p14:sectionLst>
    </p:ext>
    <p:ext uri="{EFAFB233-063F-42B5-8137-9DF3F51BA10A}">
      <p15:sldGuideLst xmlns:p15="http://schemas.microsoft.com/office/powerpoint/2012/main">
        <p15:guide id="1" orient="horz" pos="2170" userDrawn="1">
          <p15:clr>
            <a:srgbClr val="A4A3A4"/>
          </p15:clr>
        </p15:guide>
        <p15:guide id="2" pos="2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08" d="100"/>
          <a:sy n="108" d="100"/>
        </p:scale>
        <p:origin x="1704" y="102"/>
      </p:cViewPr>
      <p:guideLst>
        <p:guide orient="horz" pos="2170"/>
        <p:guide pos="28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06T15:00:49.210" idx="1">
    <p:pos x="10" y="10"/>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0FA47-8B15-437F-B746-4611B2E50E7E}" type="datetimeFigureOut">
              <a:rPr lang="en-US" smtClean="0"/>
              <a:t>09.01.2026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FC3B5-3211-45B9-A75F-21C4D8AB734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1692275" y="4411663"/>
            <a:ext cx="18669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rect l="0" t="0" r="0" b="0"/>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lstStyle/>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rect l="0" t="0" r="0" b="0"/>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lstStyle/>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rect l="0" t="0" r="0" b="0"/>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lstStyle/>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rect l="0" t="0" r="0" b="0"/>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lstStyle/>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rect l="0" t="0" r="0" b="0"/>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lstStyle/>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rect l="0" t="0" r="0" b="0"/>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lstStyle/>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rect l="0" t="0" r="0" b="0"/>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lstStyle/>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rect l="0" t="0" r="0" b="0"/>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lstStyle/>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rect l="0" t="0" r="0" b="0"/>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lstStyle/>
            <a:p>
              <a:endParaRPr lang="en-US"/>
            </a:p>
          </p:txBody>
        </p:sp>
      </p:grpSp>
      <p:sp>
        <p:nvSpPr>
          <p:cNvPr id="2051" name="未知"/>
          <p:cNvSpPr>
            <a:spLocks noChangeAspect="1"/>
          </p:cNvSpPr>
          <p:nvPr/>
        </p:nvSpPr>
        <p:spPr>
          <a:xfrm>
            <a:off x="2282825" y="2293938"/>
            <a:ext cx="6897688" cy="4591050"/>
          </a:xfrm>
          <a:custGeom>
            <a:avLst/>
            <a:gdLst/>
            <a:ahLst/>
            <a:cxnLst>
              <a:cxn ang="0">
                <a:pos x="0" y="4572133"/>
              </a:cxn>
              <a:cxn ang="0">
                <a:pos x="5786074" y="0"/>
              </a:cxn>
              <a:cxn ang="0">
                <a:pos x="6882360" y="14878"/>
              </a:cxn>
              <a:cxn ang="0">
                <a:pos x="6897688" y="4591050"/>
              </a:cxn>
              <a:cxn ang="0">
                <a:pos x="0" y="4572133"/>
              </a:cxn>
            </a:cxnLst>
            <a:rect l="0" t="0" r="0" b="0"/>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lstStyle/>
          <a:p>
            <a:endParaRPr lang="en-US"/>
          </a:p>
        </p:txBody>
      </p:sp>
      <p:sp>
        <p:nvSpPr>
          <p:cNvPr id="2061" name="Rectangle 13"/>
          <p:cNvSpPr>
            <a:spLocks noGrp="1" noChangeArrowheads="1"/>
          </p:cNvSpPr>
          <p:nvPr>
            <p:ph type="ctrTitle" sz="quarter"/>
          </p:nvPr>
        </p:nvSpPr>
        <p:spPr>
          <a:xfrm>
            <a:off x="396875" y="2133600"/>
            <a:ext cx="8423275" cy="1470025"/>
          </a:xfrm>
        </p:spPr>
        <p:txBody>
          <a:bodyPr/>
          <a:lstStyle>
            <a:lvl1pPr algn="ctr">
              <a:defRPr/>
            </a:lvl1pPr>
          </a:lstStyle>
          <a:p>
            <a:pPr lvl="0"/>
            <a:r>
              <a:rPr lang="en-US" altLang="zh-CN" noProof="0"/>
              <a:t>Click to edit Master title style</a:t>
            </a:r>
          </a:p>
        </p:txBody>
      </p:sp>
      <p:sp>
        <p:nvSpPr>
          <p:cNvPr id="2062" name="Rectangle 14"/>
          <p:cNvSpPr>
            <a:spLocks noGrp="1" noChangeArrowheads="1"/>
          </p:cNvSpPr>
          <p:nvPr>
            <p:ph type="subTitle" sz="quarter" idx="1"/>
          </p:nvPr>
        </p:nvSpPr>
        <p:spPr>
          <a:xfrm>
            <a:off x="1371600" y="3886200"/>
            <a:ext cx="6400800" cy="1198563"/>
          </a:xfrm>
        </p:spPr>
        <p:txBody>
          <a:bodyPr anchor="ctr" anchorCtr="1"/>
          <a:lstStyle>
            <a:lvl1pPr marL="0" indent="0">
              <a:buFontTx/>
              <a:buNone/>
              <a:defRPr/>
            </a:lvl1pPr>
          </a:lstStyle>
          <a:p>
            <a:pPr lvl="0"/>
            <a:r>
              <a:rPr lang="en-US" altLang="zh-CN" noProof="0"/>
              <a:t>Click to edit Master subtitle style</a:t>
            </a:r>
          </a:p>
        </p:txBody>
      </p:sp>
      <p:sp>
        <p:nvSpPr>
          <p:cNvPr id="29" name="Rectangle 15"/>
          <p:cNvSpPr>
            <a:spLocks noGrp="1" noChangeArrowheads="1"/>
          </p:cNvSpPr>
          <p:nvPr>
            <p:ph type="dt" sz="quarter"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t>09.01.2026</a:t>
            </a:fld>
            <a:endParaRPr lang="en-US"/>
          </a:p>
        </p:txBody>
      </p:sp>
      <p:sp>
        <p:nvSpPr>
          <p:cNvPr id="30" name="Rectangle 1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286471"/>
            <a:ext cx="9144000" cy="571529"/>
          </a:xfrm>
          <a:prstGeom prst="rect">
            <a:avLst/>
          </a:prstGeom>
        </p:spPr>
      </p:pic>
      <p:pic>
        <p:nvPicPr>
          <p:cNvPr id="9" name="Picture 8"/>
          <p:cNvPicPr>
            <a:picLocks noChangeAspect="1"/>
          </p:cNvPicPr>
          <p:nvPr userDrawn="1"/>
        </p:nvPicPr>
        <p:blipFill>
          <a:blip r:embed="rId3"/>
          <a:stretch>
            <a:fillRect/>
          </a:stretch>
        </p:blipFill>
        <p:spPr>
          <a:xfrm flipV="1">
            <a:off x="0" y="896533"/>
            <a:ext cx="9144000" cy="89875"/>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09.01.2026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09.01.2026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09.01.2026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09.01.2026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09.01.2026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09.01.2026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noChangeAspect="1"/>
          </p:cNvGrpSpPr>
          <p:nvPr/>
        </p:nvGrpSpPr>
        <p:grpSpPr>
          <a:xfrm>
            <a:off x="5262563" y="4076700"/>
            <a:ext cx="1397000"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rect l="0" t="0" r="0" b="0"/>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lstStyle/>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rect l="0" t="0" r="0" b="0"/>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lstStyle/>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rect l="0" t="0" r="0" b="0"/>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lstStyle/>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rect l="0" t="0" r="0" b="0"/>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lstStyle/>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rect l="0" t="0" r="0" b="0"/>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lstStyle/>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rect l="0" t="0" r="0" b="0"/>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lstStyle/>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rect l="0" t="0" r="0" b="0"/>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lstStyle/>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rect l="0" t="0" r="0" b="0"/>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lstStyle/>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rect l="0" t="0" r="0" b="0"/>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lstStyle/>
            <a:p>
              <a:endParaRPr lang="en-US"/>
            </a:p>
          </p:txBody>
        </p:sp>
      </p:grpSp>
      <p:sp>
        <p:nvSpPr>
          <p:cNvPr id="1027" name="未知"/>
          <p:cNvSpPr>
            <a:spLocks noChangeAspect="1"/>
          </p:cNvSpPr>
          <p:nvPr/>
        </p:nvSpPr>
        <p:spPr>
          <a:xfrm>
            <a:off x="2130425" y="4749800"/>
            <a:ext cx="7013575" cy="2135188"/>
          </a:xfrm>
          <a:custGeom>
            <a:avLst/>
            <a:gdLst/>
            <a:ahLst/>
            <a:cxnLst>
              <a:cxn ang="0">
                <a:pos x="0" y="2115714"/>
              </a:cxn>
              <a:cxn ang="0">
                <a:pos x="7013575" y="0"/>
              </a:cxn>
              <a:cxn ang="0">
                <a:pos x="7013575" y="2135188"/>
              </a:cxn>
              <a:cxn ang="0">
                <a:pos x="0" y="2115714"/>
              </a:cxn>
            </a:cxnLst>
            <a:rect l="0" t="0" r="0" b="0"/>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lstStyle/>
          <a:p>
            <a:endParaRPr lang="en-US"/>
          </a:p>
        </p:txBody>
      </p:sp>
      <p:sp>
        <p:nvSpPr>
          <p:cNvPr id="1028" name="Rectangle 13"/>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14"/>
          <p:cNvSpPr>
            <a:spLocks noGrp="1"/>
          </p:cNvSpPr>
          <p:nvPr>
            <p:ph type="body" idx="1"/>
          </p:nvPr>
        </p:nvSpPr>
        <p:spPr>
          <a:xfrm>
            <a:off x="457200" y="1600200"/>
            <a:ext cx="82296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1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t>09.01.2026</a:t>
            </a:fld>
            <a:endParaRPr lang="en-US"/>
          </a:p>
        </p:txBody>
      </p:sp>
      <p:sp>
        <p:nvSpPr>
          <p:cNvPr id="3" name="Rectangle 1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comments" Target="../comments/commen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0.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900" dirty="0">
                <a:solidFill>
                  <a:srgbClr val="FFFFFF"/>
                </a:solidFill>
                <a:cs typeface="Arial" panose="020B0604020202020204" pitchFamily="34" charset="0"/>
              </a:rPr>
              <a:t>1</a:t>
            </a:fld>
            <a:endParaRPr lang="en-US" altLang="en-US" sz="900" dirty="0">
              <a:solidFill>
                <a:srgbClr val="FFFFFF"/>
              </a:solidFill>
              <a:cs typeface="Arial" panose="020B0604020202020204" pitchFamily="34" charset="0"/>
            </a:endParaRPr>
          </a:p>
        </p:txBody>
      </p:sp>
      <p:sp>
        <p:nvSpPr>
          <p:cNvPr id="5124" name="AutoShape 13"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5" name="AutoShape 15"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6" name="AutoShape 17"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7" name="AutoShape 19"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pic>
        <p:nvPicPr>
          <p:cNvPr id="5128" name="Picture 9"/>
          <p:cNvPicPr>
            <a:picLocks noChangeAspect="1"/>
          </p:cNvPicPr>
          <p:nvPr/>
        </p:nvPicPr>
        <p:blipFill>
          <a:blip r:embed="rId2"/>
          <a:stretch>
            <a:fillRect/>
          </a:stretch>
        </p:blipFill>
        <p:spPr>
          <a:xfrm>
            <a:off x="0" y="6019800"/>
            <a:ext cx="9144000" cy="838200"/>
          </a:xfrm>
          <a:prstGeom prst="rect">
            <a:avLst/>
          </a:prstGeom>
          <a:noFill/>
          <a:ln w="9525">
            <a:noFill/>
          </a:ln>
        </p:spPr>
      </p:pic>
      <p:sp>
        <p:nvSpPr>
          <p:cNvPr id="2" name="Text Box 1"/>
          <p:cNvSpPr txBox="1"/>
          <p:nvPr/>
        </p:nvSpPr>
        <p:spPr>
          <a:xfrm>
            <a:off x="0" y="385763"/>
            <a:ext cx="9143999" cy="3539430"/>
          </a:xfrm>
          <a:prstGeom prst="rect">
            <a:avLst/>
          </a:prstGeom>
          <a:noFill/>
        </p:spPr>
        <p:txBody>
          <a:bodyPr wrap="square" rtlCol="0" anchor="t">
            <a:spAutoFit/>
          </a:bodyPr>
          <a:lstStyle/>
          <a:p>
            <a:pPr algn="ctr"/>
            <a:r>
              <a:rPr lang="vi-VN" altLang="en-US" sz="2800" b="1" dirty="0">
                <a:effectLst/>
                <a:cs typeface="Arial" panose="020B0604020202020204" pitchFamily="34" charset="0"/>
                <a:sym typeface="+mn-ea"/>
              </a:rPr>
              <a:t> BÁO CÁO </a:t>
            </a:r>
            <a:r>
              <a:rPr lang="vi-VN" altLang="en-US" sz="2800" b="1">
                <a:effectLst/>
                <a:cs typeface="Arial" panose="020B0604020202020204" pitchFamily="34" charset="0"/>
                <a:sym typeface="+mn-ea"/>
              </a:rPr>
              <a:t>ĐỒ ÁN</a:t>
            </a:r>
            <a:r>
              <a:rPr lang="en-US" altLang="en-US" sz="2800" b="1">
                <a:effectLst/>
                <a:cs typeface="Arial" panose="020B0604020202020204" pitchFamily="34" charset="0"/>
                <a:sym typeface="+mn-ea"/>
              </a:rPr>
              <a:t> CƠ SỞ NGÀNH</a:t>
            </a:r>
            <a:endParaRPr lang="vi-VN" altLang="en-US" sz="2800" b="1" dirty="0">
              <a:effectLst/>
              <a:cs typeface="Arial" panose="020B0604020202020204" pitchFamily="34" charset="0"/>
              <a:sym typeface="+mn-ea"/>
            </a:endParaRPr>
          </a:p>
          <a:p>
            <a:pPr algn="ctr"/>
            <a:endParaRPr lang="en-US" altLang="en-US" sz="2800" b="1"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endParaRPr lang="en-US" altLang="en-US" sz="2800" b="1"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r>
              <a:rPr lang="vi-VN" altLang="en-US" sz="2800" b="1">
                <a:effectLst>
                  <a:outerShdw blurRad="38100" dist="19050" dir="2700000" algn="tl" rotWithShape="0">
                    <a:schemeClr val="dk1">
                      <a:alpha val="40000"/>
                      <a:alpha val="40000"/>
                    </a:schemeClr>
                  </a:outerShdw>
                </a:effectLst>
                <a:cs typeface="Arial" panose="020B0604020202020204" pitchFamily="34" charset="0"/>
                <a:sym typeface="+mn-ea"/>
              </a:rPr>
              <a:t>  </a:t>
            </a:r>
            <a:r>
              <a:rPr lang="en-US" altLang="en-US" sz="2800" b="1">
                <a:effectLst>
                  <a:outerShdw blurRad="38100" dist="19050" dir="2700000" algn="tl" rotWithShape="0">
                    <a:schemeClr val="dk1">
                      <a:alpha val="40000"/>
                      <a:alpha val="40000"/>
                    </a:schemeClr>
                  </a:outerShdw>
                </a:effectLst>
                <a:cs typeface="Arial" panose="020B0604020202020204" pitchFamily="34" charset="0"/>
                <a:sym typeface="+mn-ea"/>
              </a:rPr>
              <a:t>Đề tài</a:t>
            </a:r>
            <a:r>
              <a:rPr lang="vi-VN" altLang="en-US" sz="2800" b="1">
                <a:effectLst>
                  <a:outerShdw blurRad="38100" dist="19050" dir="2700000" algn="tl" rotWithShape="0">
                    <a:schemeClr val="dk1">
                      <a:alpha val="40000"/>
                      <a:alpha val="40000"/>
                    </a:schemeClr>
                  </a:outerShdw>
                </a:effectLst>
                <a:cs typeface="Arial" panose="020B0604020202020204" pitchFamily="34" charset="0"/>
                <a:sym typeface="+mn-ea"/>
              </a:rPr>
              <a:t>:</a:t>
            </a:r>
            <a:endPar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r>
              <a:rPr lang="vi-VN" sz="2800"/>
              <a:t>ỨNG DỤNG CÔNG NGHỆ TRONG VIỆC DUY TRÌ LỐI SỐNG LÀNH MẠNH: NGHIÊN CỨU NHU CẦU VÀ ĐỊNH HƯỚNG THIẾT KẾ HỆ THỐNG HỖ TRỢ</a:t>
            </a:r>
            <a:endParaRPr lang="en-US" sz="2800"/>
          </a:p>
          <a:p>
            <a:pPr algn="ctr"/>
            <a:endPar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endParaRPr>
          </a:p>
        </p:txBody>
      </p:sp>
      <p:sp>
        <p:nvSpPr>
          <p:cNvPr id="5" name="Text Box 4"/>
          <p:cNvSpPr txBox="1"/>
          <p:nvPr/>
        </p:nvSpPr>
        <p:spPr>
          <a:xfrm>
            <a:off x="5896825" y="4286463"/>
            <a:ext cx="3947795" cy="1200329"/>
          </a:xfrm>
          <a:prstGeom prst="rect">
            <a:avLst/>
          </a:prstGeom>
          <a:noFill/>
        </p:spPr>
        <p:txBody>
          <a:bodyPr wrap="square" rtlCol="0" anchor="t">
            <a:spAutoFit/>
          </a:bodyPr>
          <a:lstStyle/>
          <a:p>
            <a:pPr algn="l"/>
            <a:r>
              <a:rPr lang="en-US" altLang="en-US" sz="1800" b="1">
                <a:cs typeface="Arial" panose="020B0604020202020204" pitchFamily="34" charset="0"/>
                <a:sym typeface="+mn-ea"/>
              </a:rPr>
              <a:t>Họ </a:t>
            </a:r>
            <a:r>
              <a:rPr lang="en-US" altLang="en-US" sz="1800" b="1" dirty="0">
                <a:cs typeface="Arial" panose="020B0604020202020204" pitchFamily="34" charset="0"/>
                <a:sym typeface="+mn-ea"/>
              </a:rPr>
              <a:t>tên</a:t>
            </a:r>
            <a:r>
              <a:rPr lang="en-US" altLang="en-US" sz="1800" b="1">
                <a:cs typeface="Arial" panose="020B0604020202020204" pitchFamily="34" charset="0"/>
                <a:sym typeface="+mn-ea"/>
              </a:rPr>
              <a:t>:</a:t>
            </a:r>
            <a:r>
              <a:rPr lang="en-US" altLang="en-US" sz="1800">
                <a:cs typeface="Arial" panose="020B0604020202020204" pitchFamily="34" charset="0"/>
                <a:sym typeface="+mn-ea"/>
              </a:rPr>
              <a:t> </a:t>
            </a:r>
            <a:r>
              <a:rPr lang="en-US" altLang="en-US">
                <a:cs typeface="Arial" panose="020B0604020202020204" pitchFamily="34" charset="0"/>
                <a:sym typeface="+mn-ea"/>
              </a:rPr>
              <a:t>Trần Chí Trường Thọ</a:t>
            </a:r>
            <a:endParaRPr lang="en-US" altLang="en-US" sz="1800" dirty="0">
              <a:cs typeface="Arial" panose="020B0604020202020204" pitchFamily="34" charset="0"/>
              <a:sym typeface="+mn-ea"/>
            </a:endParaRPr>
          </a:p>
          <a:p>
            <a:pPr algn="l"/>
            <a:r>
              <a:rPr lang="en-US" altLang="en-US" sz="1800" dirty="0">
                <a:cs typeface="Arial" panose="020B0604020202020204" pitchFamily="34" charset="0"/>
                <a:sym typeface="+mn-ea"/>
              </a:rPr>
              <a:t>MSSV</a:t>
            </a:r>
            <a:r>
              <a:rPr lang="en-US" altLang="en-US" sz="1800">
                <a:cs typeface="Arial" panose="020B0604020202020204" pitchFamily="34" charset="0"/>
                <a:sym typeface="+mn-ea"/>
              </a:rPr>
              <a:t>: 110122170</a:t>
            </a:r>
          </a:p>
          <a:p>
            <a:pPr algn="l"/>
            <a:endParaRPr lang="en-US" altLang="en-US" sz="1800" dirty="0">
              <a:cs typeface="Arial" panose="020B0604020202020204" pitchFamily="34" charset="0"/>
              <a:sym typeface="+mn-ea"/>
            </a:endParaRPr>
          </a:p>
          <a:p>
            <a:pPr algn="r"/>
            <a:r>
              <a:rPr lang="vi-VN" altLang="en-US" sz="1800" dirty="0">
                <a:cs typeface="Arial" panose="020B0604020202020204" pitchFamily="34" charset="0"/>
                <a:sym typeface="+mn-ea"/>
              </a:rPr>
              <a:t> </a:t>
            </a:r>
          </a:p>
        </p:txBody>
      </p:sp>
      <p:pic>
        <p:nvPicPr>
          <p:cNvPr id="6" name="Picture 5"/>
          <p:cNvPicPr/>
          <p:nvPr/>
        </p:nvPicPr>
        <p:blipFill>
          <a:blip r:embed="rId3">
            <a:alphaModFix amt="40000"/>
            <a:lum bright="42000" contrast="-12000"/>
          </a:blip>
          <a:stretch>
            <a:fillRect/>
          </a:stretch>
        </p:blipFill>
        <p:spPr>
          <a:xfrm>
            <a:off x="851482" y="160338"/>
            <a:ext cx="7564549" cy="6279891"/>
          </a:xfrm>
          <a:prstGeom prst="rect">
            <a:avLst/>
          </a:prstGeom>
        </p:spPr>
      </p:pic>
      <p:sp>
        <p:nvSpPr>
          <p:cNvPr id="3" name="Text Box 2"/>
          <p:cNvSpPr txBox="1"/>
          <p:nvPr/>
        </p:nvSpPr>
        <p:spPr>
          <a:xfrm>
            <a:off x="520277" y="4286463"/>
            <a:ext cx="3235960" cy="645160"/>
          </a:xfrm>
          <a:prstGeom prst="rect">
            <a:avLst/>
          </a:prstGeom>
          <a:noFill/>
        </p:spPr>
        <p:txBody>
          <a:bodyPr wrap="square" rtlCol="0">
            <a:spAutoFit/>
          </a:bodyPr>
          <a:lstStyle/>
          <a:p>
            <a:r>
              <a:rPr lang="vi-VN" altLang="en-US" b="1" dirty="0">
                <a:cs typeface="Arial" panose="020B0604020202020204" pitchFamily="34" charset="0"/>
                <a:sym typeface="+mn-ea"/>
              </a:rPr>
              <a:t>Giảng viên hướng dẫn:</a:t>
            </a:r>
            <a:r>
              <a:rPr lang="vi-VN" altLang="en-US" dirty="0">
                <a:cs typeface="Arial" panose="020B0604020202020204" pitchFamily="34" charset="0"/>
                <a:sym typeface="+mn-ea"/>
              </a:rPr>
              <a:t> </a:t>
            </a:r>
          </a:p>
          <a:p>
            <a:r>
              <a:rPr lang="vi-VN" altLang="en-US" dirty="0">
                <a:cs typeface="Arial" panose="020B0604020202020204" pitchFamily="34" charset="0"/>
                <a:sym typeface="+mn-ea"/>
              </a:rPr>
              <a:t>TS. Thạch Kọng Saoane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vi-VN" altLang="en-US" dirty="0"/>
              <a:t>CHƯƠNG I: GIỚI THIỆU</a:t>
            </a:r>
          </a:p>
        </p:txBody>
      </p:sp>
      <p:sp>
        <p:nvSpPr>
          <p:cNvPr id="4" name="Text Box 3"/>
          <p:cNvSpPr txBox="1"/>
          <p:nvPr/>
        </p:nvSpPr>
        <p:spPr>
          <a:xfrm>
            <a:off x="107210" y="1106214"/>
            <a:ext cx="4231367" cy="3054396"/>
          </a:xfrm>
          <a:prstGeom prst="rect">
            <a:avLst/>
          </a:prstGeom>
          <a:ln>
            <a:solidFill>
              <a:schemeClr val="tx1"/>
            </a:solidFill>
          </a:ln>
        </p:spPr>
        <p:txBody>
          <a:bodyPr wrap="square">
            <a:noAutofit/>
          </a:bodyPr>
          <a:lstStyle/>
          <a:p>
            <a:r>
              <a:rPr lang="vi-VN" sz="2000" b="1">
                <a:latin typeface="Times New Roman" panose="02020603050405020304" pitchFamily="18" charset="0"/>
                <a:cs typeface="Times New Roman" panose="02020603050405020304" pitchFamily="18" charset="0"/>
              </a:rPr>
              <a:t>1.1. Bối cảnh:</a:t>
            </a:r>
            <a:endParaRPr lang="en-US" sz="2000" b="1">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	</a:t>
            </a:r>
            <a:r>
              <a:rPr lang="vi-VN" sz="1600"/>
              <a:t>Trong cuộc sống hiện đại, nhiều người gặp khó khăn trong việc duy trì lối sống lành mạnh do áp lực công việc, học tập và sinh hoạt không điều độ. Các vấn đề như ít vận động, ăn uống chưa khoa học, thiếu ngủ và căng thẳng ngày càng phổ biến. Vì vậy, việc ứng dụng công nghệ để xây dựng một hệ thống hỗ trợ theo dõi và duy trì lối sống lành mạnh, đơn giản và dễ sử dụng là rất cần thiết.</a:t>
            </a:r>
            <a:endParaRPr lang="vi-VN" sz="1600" dirty="0">
              <a:latin typeface="Times New Roman" panose="02020603050405020304" pitchFamily="18" charset="0"/>
              <a:cs typeface="Times New Roman" panose="02020603050405020304" pitchFamily="18" charset="0"/>
            </a:endParaRPr>
          </a:p>
        </p:txBody>
      </p:sp>
      <p:sp>
        <p:nvSpPr>
          <p:cNvPr id="6" name="Text Box 5"/>
          <p:cNvSpPr txBox="1"/>
          <p:nvPr/>
        </p:nvSpPr>
        <p:spPr>
          <a:xfrm>
            <a:off x="4494793" y="1104900"/>
            <a:ext cx="4541997" cy="2521169"/>
          </a:xfrm>
          <a:prstGeom prst="rect">
            <a:avLst/>
          </a:prstGeom>
          <a:ln>
            <a:solidFill>
              <a:schemeClr val="tx1"/>
            </a:solidFill>
          </a:ln>
        </p:spPr>
        <p:txBody>
          <a:bodyPr wrap="square">
            <a:noAutofit/>
          </a:bodyPr>
          <a:lstStyle/>
          <a:p>
            <a:r>
              <a:rPr lang="en-US" sz="2000" b="1" dirty="0">
                <a:latin typeface="Times New Roman" panose="02020603050405020304" pitchFamily="18" charset="0"/>
                <a:cs typeface="Times New Roman" panose="02020603050405020304" pitchFamily="18" charset="0"/>
              </a:rPr>
              <a:t>1.2 Lý do </a:t>
            </a:r>
            <a:r>
              <a:rPr lang="en-US" sz="2000" b="1" dirty="0" err="1">
                <a:latin typeface="Times New Roman" panose="02020603050405020304" pitchFamily="18" charset="0"/>
                <a:cs typeface="Times New Roman" panose="02020603050405020304" pitchFamily="18" charset="0"/>
              </a:rPr>
              <a:t>chọn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đề</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tài</a:t>
            </a:r>
            <a:r>
              <a:rPr lang="en-US" sz="2000" dirty="0">
                <a:latin typeface="Times New Roman" panose="02020603050405020304" pitchFamily="18" charset="0"/>
                <a:cs typeface="Times New Roman" panose="02020603050405020304" pitchFamily="18" charset="0"/>
              </a:rPr>
              <a:t>:</a:t>
            </a:r>
          </a:p>
          <a:p>
            <a:pPr algn="just"/>
            <a:r>
              <a:rPr lang="en-US" sz="1600">
                <a:latin typeface="Times New Roman" panose="02020603050405020304" pitchFamily="18" charset="0"/>
                <a:cs typeface="Times New Roman" panose="02020603050405020304" pitchFamily="18" charset="0"/>
              </a:rPr>
              <a:t>	</a:t>
            </a:r>
            <a:r>
              <a:rPr lang="vi-VN" sz="1600"/>
              <a:t>Mặc dù sức khỏe ngày càng được quan tâm, nhiều người vẫn khó duy trì lối sống lành mạnh do thiếu thời gian, động lực và công cụ phù hợp. Vì vậy, đề tài được chọn nhằm </a:t>
            </a:r>
            <a:r>
              <a:rPr lang="vi-VN" sz="1600" b="1"/>
              <a:t>nghiên cứu nhu cầu người dùng và định hướng thiết kế một hệ thống hỗ trợ đơn giản, dễ sử dụng và hiệu quả</a:t>
            </a:r>
            <a:r>
              <a:rPr lang="vi-VN" sz="1600"/>
              <a:t>.</a:t>
            </a:r>
          </a:p>
          <a:p>
            <a:pPr algn="just"/>
            <a:endParaRPr lang="en-US" altLang="en-US" sz="1600" dirty="0">
              <a:latin typeface="Times New Roman" panose="02020603050405020304" pitchFamily="18" charset="0"/>
              <a:cs typeface="Times New Roman" panose="02020603050405020304" pitchFamily="18" charset="0"/>
            </a:endParaRPr>
          </a:p>
        </p:txBody>
      </p:sp>
      <p:sp>
        <p:nvSpPr>
          <p:cNvPr id="3" name="Text Box 5"/>
          <p:cNvSpPr txBox="1"/>
          <p:nvPr/>
        </p:nvSpPr>
        <p:spPr>
          <a:xfrm>
            <a:off x="107210" y="4340045"/>
            <a:ext cx="4233971" cy="1606860"/>
          </a:xfrm>
          <a:prstGeom prst="rect">
            <a:avLst/>
          </a:prstGeom>
          <a:ln>
            <a:solidFill>
              <a:schemeClr val="tx1"/>
            </a:solidFill>
          </a:ln>
        </p:spPr>
        <p:txBody>
          <a:bodyPr wrap="square">
            <a:noAutofit/>
          </a:bodyPr>
          <a:lstStyle/>
          <a:p>
            <a:r>
              <a:rPr sz="2000" b="1" dirty="0">
                <a:latin typeface="Times New Roman" panose="02020603050405020304" pitchFamily="18" charset="0"/>
                <a:cs typeface="Times New Roman" panose="02020603050405020304" pitchFamily="18" charset="0"/>
              </a:rPr>
              <a:t>1.3. </a:t>
            </a:r>
            <a:r>
              <a:rPr sz="2000" b="1" dirty="0" err="1">
                <a:latin typeface="Times New Roman" panose="02020603050405020304" pitchFamily="18" charset="0"/>
                <a:cs typeface="Times New Roman" panose="02020603050405020304" pitchFamily="18" charset="0"/>
              </a:rPr>
              <a:t>Mục</a:t>
            </a:r>
            <a:r>
              <a:rPr sz="2000" b="1" dirty="0">
                <a:latin typeface="Times New Roman" panose="02020603050405020304" pitchFamily="18" charset="0"/>
                <a:cs typeface="Times New Roman" panose="02020603050405020304" pitchFamily="18" charset="0"/>
              </a:rPr>
              <a:t> </a:t>
            </a:r>
            <a:r>
              <a:rPr sz="2000" b="1" dirty="0" err="1">
                <a:latin typeface="Times New Roman" panose="02020603050405020304" pitchFamily="18" charset="0"/>
                <a:cs typeface="Times New Roman" panose="02020603050405020304" pitchFamily="18" charset="0"/>
              </a:rPr>
              <a:t>đích</a:t>
            </a:r>
            <a:r>
              <a:rPr sz="2000" b="1" dirty="0">
                <a:latin typeface="Times New Roman" panose="02020603050405020304" pitchFamily="18" charset="0"/>
                <a:cs typeface="Times New Roman" panose="02020603050405020304" pitchFamily="18" charset="0"/>
              </a:rPr>
              <a:t> </a:t>
            </a:r>
            <a:r>
              <a:rPr sz="2000" b="1" dirty="0" err="1">
                <a:latin typeface="Times New Roman" panose="02020603050405020304" pitchFamily="18" charset="0"/>
                <a:cs typeface="Times New Roman" panose="02020603050405020304" pitchFamily="18" charset="0"/>
              </a:rPr>
              <a:t>nghiên</a:t>
            </a:r>
            <a:r>
              <a:rPr sz="2000" b="1" dirty="0">
                <a:latin typeface="Times New Roman" panose="02020603050405020304" pitchFamily="18" charset="0"/>
                <a:cs typeface="Times New Roman" panose="02020603050405020304" pitchFamily="18" charset="0"/>
              </a:rPr>
              <a:t> </a:t>
            </a:r>
            <a:r>
              <a:rPr sz="2000" b="1" dirty="0" err="1">
                <a:latin typeface="Times New Roman" panose="02020603050405020304" pitchFamily="18" charset="0"/>
                <a:cs typeface="Times New Roman" panose="02020603050405020304" pitchFamily="18" charset="0"/>
              </a:rPr>
              <a:t>cứu</a:t>
            </a:r>
            <a:r>
              <a:rPr sz="2000" b="1" dirty="0">
                <a:latin typeface="Times New Roman" panose="02020603050405020304" pitchFamily="18" charset="0"/>
                <a:cs typeface="Times New Roman" panose="02020603050405020304" pitchFamily="18" charset="0"/>
              </a:rPr>
              <a:t>:</a:t>
            </a:r>
          </a:p>
          <a:p>
            <a:pPr algn="just"/>
            <a:r>
              <a:rPr lang="en-US" sz="1600">
                <a:latin typeface="Times New Roman" panose="02020603050405020304" pitchFamily="18" charset="0"/>
                <a:cs typeface="Times New Roman" panose="02020603050405020304" pitchFamily="18" charset="0"/>
              </a:rPr>
              <a:t>	</a:t>
            </a:r>
            <a:r>
              <a:rPr lang="vi-VN" sz="1600"/>
              <a:t> Nghiên cứu nhu cầu người dùng trong việc duy trì lối sống lành mạnh và đề xuất thiết kế hệ thống hỗ trợ đơn giản, dễ sử dụng, giúp theo dõi dinh dưỡng, giấc ngủ, vận động và sức khỏe hiệu quả hơn.</a:t>
            </a:r>
            <a:endParaRPr lang="en-US" altLang="en-US" sz="1600" dirty="0">
              <a:latin typeface="Times New Roman" panose="02020603050405020304" pitchFamily="18" charset="0"/>
              <a:cs typeface="Times New Roman" panose="02020603050405020304" pitchFamily="18" charset="0"/>
            </a:endParaRPr>
          </a:p>
        </p:txBody>
      </p:sp>
      <p:sp>
        <p:nvSpPr>
          <p:cNvPr id="10" name="Text Box 5"/>
          <p:cNvSpPr txBox="1"/>
          <p:nvPr/>
        </p:nvSpPr>
        <p:spPr>
          <a:xfrm>
            <a:off x="4494793" y="3911330"/>
            <a:ext cx="4541997" cy="2035575"/>
          </a:xfrm>
          <a:prstGeom prst="rect">
            <a:avLst/>
          </a:prstGeom>
          <a:ln>
            <a:solidFill>
              <a:schemeClr val="tx1"/>
            </a:solidFill>
          </a:ln>
        </p:spPr>
        <p:txBody>
          <a:bodyPr wrap="square">
            <a:noAutofit/>
          </a:bodyPr>
          <a:lstStyle/>
          <a:p>
            <a:r>
              <a:rPr lang="en-US" sz="2000" b="1" dirty="0">
                <a:latin typeface="Times New Roman" panose="02020603050405020304" pitchFamily="18" charset="0"/>
                <a:cs typeface="Times New Roman" panose="02020603050405020304" pitchFamily="18" charset="0"/>
              </a:rPr>
              <a:t>1.4 </a:t>
            </a:r>
            <a:r>
              <a:rPr lang="en-US" sz="2000" b="1" dirty="0" err="1">
                <a:latin typeface="Times New Roman" panose="02020603050405020304" pitchFamily="18" charset="0"/>
                <a:cs typeface="Times New Roman" panose="02020603050405020304" pitchFamily="18" charset="0"/>
              </a:rPr>
              <a:t>Đối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tượng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nghiên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cứu</a:t>
            </a:r>
            <a:endParaRPr lang="en-US" sz="2000" b="1" dirty="0">
              <a:latin typeface="Times New Roman" panose="02020603050405020304" pitchFamily="18" charset="0"/>
              <a:cs typeface="Times New Roman" panose="02020603050405020304" pitchFamily="18" charset="0"/>
            </a:endParaRPr>
          </a:p>
          <a:p>
            <a:pPr algn="just"/>
            <a:r>
              <a:rPr lang="en-US" sz="1600">
                <a:latin typeface="Times New Roman" panose="02020603050405020304" pitchFamily="18" charset="0"/>
                <a:cs typeface="Times New Roman" panose="02020603050405020304" pitchFamily="18" charset="0"/>
              </a:rPr>
              <a:t>	</a:t>
            </a:r>
            <a:r>
              <a:rPr lang="vi-VN" sz="1600"/>
              <a:t>Người dùng có nhu cầu duy trì và cải thiện lối sống lành mạnh, đặc biệt là người trẻ, sinh viên và người đi làm thường xuyên sử dụng điện thoại thông minh nhưng gặp khó khăn trong việc quản lý dinh dưỡng, giấc ngủ, vận động và theo dõi sức khỏe hằng ngày.</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30" y="90170"/>
            <a:ext cx="8854440" cy="959485"/>
          </a:xfrm>
        </p:spPr>
        <p:txBody>
          <a:bodyPr/>
          <a:lstStyle/>
          <a:p>
            <a:r>
              <a:rPr lang="vi-VN" altLang="en-US" sz="3300" dirty="0"/>
              <a:t>CHƯƠNG II: PHƯƠNG PHÁP NGHIÊN CỨU</a:t>
            </a:r>
          </a:p>
        </p:txBody>
      </p:sp>
      <p:sp>
        <p:nvSpPr>
          <p:cNvPr id="5" name="TextBox 4"/>
          <p:cNvSpPr txBox="1"/>
          <p:nvPr/>
        </p:nvSpPr>
        <p:spPr>
          <a:xfrm>
            <a:off x="189230" y="1049654"/>
            <a:ext cx="8913495" cy="5808345"/>
          </a:xfrm>
          <a:prstGeom prst="rect">
            <a:avLst/>
          </a:prstGeom>
          <a:noFill/>
        </p:spPr>
        <p:txBody>
          <a:bodyPr wrap="square">
            <a:noAutofit/>
          </a:bodyPr>
          <a:lstStyle/>
          <a:p>
            <a:r>
              <a:rPr lang="vi-VN" sz="2000" b="1"/>
              <a:t>Cách tiếp cận</a:t>
            </a:r>
          </a:p>
          <a:p>
            <a:r>
              <a:rPr lang="en-US" sz="1600"/>
              <a:t>	</a:t>
            </a:r>
            <a:r>
              <a:rPr lang="vi-VN" sz="1600"/>
              <a:t>Tiến hành phỏng vấn bán cấu trúc nhằm tìm hiểu thói quen sinh hoạt, khó khăn và nhu cầu của người dùng trong việc duy trì lối sống lành mạnh, tập trung vào giấc ngủ, dinh dưỡng, vận động và sức khỏe tinh thần.</a:t>
            </a:r>
          </a:p>
          <a:p>
            <a:r>
              <a:rPr lang="vi-VN" sz="2000" b="1"/>
              <a:t>Phương pháp</a:t>
            </a:r>
          </a:p>
          <a:p>
            <a:r>
              <a:rPr lang="en-US" sz="1600"/>
              <a:t>	</a:t>
            </a:r>
            <a:r>
              <a:rPr lang="vi-VN" sz="1600"/>
              <a:t>Phỏng vấn trực tiếp 1:1 với người dùng, thời lượng </a:t>
            </a:r>
            <a:r>
              <a:rPr lang="en-US" sz="1600"/>
              <a:t>5 </a:t>
            </a:r>
            <a:r>
              <a:rPr lang="vi-VN" sz="1600"/>
              <a:t>–</a:t>
            </a:r>
            <a:r>
              <a:rPr lang="en-US" sz="1600"/>
              <a:t> 10</a:t>
            </a:r>
            <a:r>
              <a:rPr lang="vi-VN" sz="1600"/>
              <a:t> phút, thực hiện trong môi trường quen thuộc để đảm bảo sự thoải mái và phản ánh đúng sinh hoạt hằng ngày.</a:t>
            </a:r>
          </a:p>
          <a:p>
            <a:r>
              <a:rPr lang="en-US" sz="2000" b="1"/>
              <a:t>C</a:t>
            </a:r>
            <a:r>
              <a:rPr lang="vi-VN" sz="2000" b="1"/>
              <a:t>ông cụ</a:t>
            </a:r>
            <a:endParaRPr lang="en-US" sz="2000" b="1"/>
          </a:p>
          <a:p>
            <a:pPr marL="285750" indent="-285750">
              <a:buFont typeface="Arial" panose="020B0604020202020204" pitchFamily="34" charset="0"/>
              <a:buChar char="•"/>
            </a:pPr>
            <a:r>
              <a:rPr lang="vi-VN" sz="1600"/>
              <a:t>Câu hỏi mở</a:t>
            </a:r>
            <a:endParaRPr lang="en-US" sz="1600"/>
          </a:p>
          <a:p>
            <a:pPr marL="285750" indent="-285750">
              <a:buFont typeface="Arial" panose="020B0604020202020204" pitchFamily="34" charset="0"/>
              <a:buChar char="•"/>
            </a:pPr>
            <a:r>
              <a:rPr lang="vi-VN" sz="1600"/>
              <a:t>Điện thoại ghi âm, sổ ghi chú</a:t>
            </a:r>
            <a:endParaRPr lang="en-US" sz="1600"/>
          </a:p>
          <a:p>
            <a:pPr marL="285750" indent="-285750">
              <a:buFont typeface="Arial" panose="020B0604020202020204" pitchFamily="34" charset="0"/>
              <a:buChar char="•"/>
            </a:pPr>
            <a:r>
              <a:rPr lang="vi-VN" sz="1600"/>
              <a:t>Đảm bảo bảo mật thông tin người tham gia</a:t>
            </a:r>
            <a:endParaRPr lang="en-US" sz="1600"/>
          </a:p>
          <a:p>
            <a:r>
              <a:rPr lang="vi-VN" sz="2000" b="1"/>
              <a:t>Kết quả</a:t>
            </a:r>
            <a:endParaRPr lang="en-US" sz="2000" b="1"/>
          </a:p>
          <a:p>
            <a:pPr marL="285750" indent="-285750">
              <a:buFont typeface="Arial" panose="020B0604020202020204" pitchFamily="34" charset="0"/>
              <a:buChar char="•"/>
            </a:pPr>
            <a:r>
              <a:rPr lang="vi-VN" sz="1600" b="1"/>
              <a:t>Khó khăn:</a:t>
            </a:r>
            <a:r>
              <a:rPr lang="vi-VN" sz="1600"/>
              <a:t> </a:t>
            </a:r>
            <a:r>
              <a:rPr lang="en-US" sz="1600"/>
              <a:t>Thiếu thời gian, dễ quên vận động, ngủ không điều độ, khó kiểm soát ăn uống</a:t>
            </a:r>
          </a:p>
          <a:p>
            <a:pPr marL="285750" indent="-285750">
              <a:buFont typeface="Arial" panose="020B0604020202020204" pitchFamily="34" charset="0"/>
              <a:buChar char="•"/>
            </a:pPr>
            <a:r>
              <a:rPr lang="vi-VN" sz="1600" b="1"/>
              <a:t>Động lực:</a:t>
            </a:r>
            <a:r>
              <a:rPr lang="vi-VN" sz="1600"/>
              <a:t> </a:t>
            </a:r>
            <a:r>
              <a:rPr lang="en-US" sz="1600"/>
              <a:t>Muốn cải thiện sức khỏe và tinh thần.</a:t>
            </a:r>
          </a:p>
          <a:p>
            <a:pPr marL="285750" indent="-285750">
              <a:buFont typeface="Arial" panose="020B0604020202020204" pitchFamily="34" charset="0"/>
              <a:buChar char="•"/>
            </a:pPr>
            <a:r>
              <a:rPr lang="vi-VN" sz="1600" b="1"/>
              <a:t>Nhu cầu:</a:t>
            </a:r>
            <a:r>
              <a:rPr lang="vi-VN" sz="1600"/>
              <a:t> Ứng dụng đơn giản, có nhắc nhở, thống kê và gợi ý phù hợp sinh hoạt hằng ngày.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 PHƯƠNG PHÁP NGHIÊN CỨU</a:t>
            </a:r>
          </a:p>
        </p:txBody>
      </p:sp>
      <p:sp>
        <p:nvSpPr>
          <p:cNvPr id="6" name="TextBox 5"/>
          <p:cNvSpPr txBox="1"/>
          <p:nvPr/>
        </p:nvSpPr>
        <p:spPr>
          <a:xfrm>
            <a:off x="72390" y="1123835"/>
            <a:ext cx="8999220" cy="2308324"/>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Xác</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định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vấn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đề</a:t>
            </a:r>
            <a:r>
              <a:rPr lang="en-US" altLang="en-US" sz="2400" b="1" dirty="0">
                <a:latin typeface="Times New Roman" panose="02020603050405020304" pitchFamily="18" charset="0"/>
                <a:cs typeface="Times New Roman" panose="02020603050405020304" pitchFamily="18" charset="0"/>
              </a:rPr>
              <a:t> (Define)</a:t>
            </a:r>
            <a:endParaRPr lang="en-US" altLang="en-US" sz="2000" b="1" dirty="0">
              <a:latin typeface="Times New Roman" panose="02020603050405020304" pitchFamily="18" charset="0"/>
              <a:cs typeface="Times New Roman" panose="02020603050405020304" pitchFamily="18" charset="0"/>
            </a:endParaRPr>
          </a:p>
          <a:p>
            <a:endParaRPr lang="en-US" altLang="en-US" sz="2000" b="1" dirty="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sym typeface="+mn-ea"/>
              </a:rPr>
              <a:t>	</a:t>
            </a:r>
            <a:r>
              <a:rPr lang="vi-VN" sz="2000"/>
              <a:t>Dữ liệu phỏng vấn được phân tích và nhóm lại bằng phương pháp </a:t>
            </a:r>
            <a:r>
              <a:rPr lang="vi-VN" sz="2000" b="1"/>
              <a:t>Affinity Mapping</a:t>
            </a:r>
            <a:r>
              <a:rPr lang="vi-VN" sz="2000"/>
              <a:t> nhằm xác định nhu cầu và khó khăn chung của người dùng.</a:t>
            </a:r>
            <a:br>
              <a:rPr lang="vi-VN" sz="2000"/>
            </a:br>
            <a:r>
              <a:rPr lang="vi-VN" sz="2000"/>
              <a:t>Kết quả cho thấy người dùng thiếu một hệ thống </a:t>
            </a:r>
            <a:r>
              <a:rPr lang="vi-VN" sz="2000" b="1"/>
              <a:t>đơn giản, dễ sử dụng, có nhắc nhở và theo dõi sức khỏe hiệu quả</a:t>
            </a:r>
            <a:r>
              <a:rPr lang="vi-VN" sz="2000"/>
              <a:t> để duy trì lối sống lành mạnh lâu dài.</a:t>
            </a:r>
            <a:endParaRPr lang="en-US" altLang="en-US"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89230" y="3330948"/>
            <a:ext cx="8898890" cy="2923877"/>
          </a:xfrm>
          <a:prstGeom prst="rect">
            <a:avLst/>
          </a:prstGeom>
          <a:noFill/>
        </p:spPr>
        <p:txBody>
          <a:bodyPr wrap="square">
            <a:spAutoFit/>
          </a:bodyPr>
          <a:lstStyle/>
          <a:p>
            <a:r>
              <a:rPr lang="vi-VN" sz="2400" b="1" dirty="0">
                <a:latin typeface="+mj-lt"/>
              </a:rPr>
              <a:t>Hình thành ý tưởng (</a:t>
            </a:r>
            <a:r>
              <a:rPr lang="vi-VN" sz="2400" b="1">
                <a:latin typeface="+mj-lt"/>
              </a:rPr>
              <a:t>Ideate)</a:t>
            </a:r>
            <a:endParaRPr lang="en-US" sz="2400" b="1" dirty="0">
              <a:latin typeface="+mj-lt"/>
            </a:endParaRPr>
          </a:p>
          <a:p>
            <a:endParaRPr lang="vi-VN" sz="2000" b="1" dirty="0">
              <a:latin typeface="+mj-lt"/>
            </a:endParaRPr>
          </a:p>
          <a:p>
            <a:r>
              <a:rPr lang="vi-VN" sz="2000" b="1"/>
              <a:t>Ý tưởng chính:</a:t>
            </a:r>
            <a:endParaRPr lang="vi-VN" sz="2000"/>
          </a:p>
          <a:p>
            <a:pPr marL="342900" indent="-342900">
              <a:buFont typeface="Wingdings" panose="05000000000000000000" pitchFamily="2" charset="2"/>
              <a:buChar char="Ø"/>
            </a:pPr>
            <a:r>
              <a:rPr lang="vi-VN" sz="2000"/>
              <a:t>Hỗ trợ theo dõi các yếu tố sức khỏe quen thuộc hằng ngày như </a:t>
            </a:r>
            <a:r>
              <a:rPr lang="vi-VN" sz="2000" b="1"/>
              <a:t>giấc ngủ, vận động, ăn uống và tinh thần</a:t>
            </a:r>
            <a:r>
              <a:rPr lang="vi-VN" sz="2000"/>
              <a:t>.</a:t>
            </a:r>
            <a:endParaRPr lang="en-US" sz="2000"/>
          </a:p>
          <a:p>
            <a:pPr marL="342900" indent="-342900">
              <a:buFont typeface="Wingdings" panose="05000000000000000000" pitchFamily="2" charset="2"/>
              <a:buChar char="Ø"/>
            </a:pPr>
            <a:r>
              <a:rPr lang="vi-VN" sz="2000"/>
              <a:t>Cung cấp </a:t>
            </a:r>
            <a:r>
              <a:rPr lang="vi-VN" sz="2000" b="1"/>
              <a:t>nhắc nhở thông minh</a:t>
            </a:r>
            <a:r>
              <a:rPr lang="vi-VN" sz="2000"/>
              <a:t> giúp người dùng duy trì thói quen lành mạnh đều đặn.</a:t>
            </a:r>
            <a:endParaRPr lang="en-US" sz="2000"/>
          </a:p>
          <a:p>
            <a:pPr marL="342900" indent="-342900">
              <a:buFont typeface="Wingdings" panose="05000000000000000000" pitchFamily="2" charset="2"/>
              <a:buChar char="Ø"/>
            </a:pPr>
            <a:r>
              <a:rPr lang="vi-VN" sz="2000"/>
              <a:t>Thiết kế </a:t>
            </a:r>
            <a:r>
              <a:rPr lang="vi-VN" sz="2000" b="1"/>
              <a:t>giao diện đơn giản, trực quan</a:t>
            </a:r>
            <a:r>
              <a:rPr lang="vi-VN" sz="2000"/>
              <a:t>, dễ sử dụng, phù hợp với thói quen dùng ứng dụng trên điện thoại.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vi-VN" altLang="en-US" sz="3300"/>
              <a:t>CHƯƠNG III: KẾT QUẢ NGHIÊN CỨU</a:t>
            </a:r>
          </a:p>
        </p:txBody>
      </p:sp>
      <p:sp>
        <p:nvSpPr>
          <p:cNvPr id="5" name="Text Box 4"/>
          <p:cNvSpPr txBox="1"/>
          <p:nvPr/>
        </p:nvSpPr>
        <p:spPr>
          <a:xfrm>
            <a:off x="649605" y="1049655"/>
            <a:ext cx="7779385" cy="460375"/>
          </a:xfrm>
          <a:prstGeom prst="rect">
            <a:avLst/>
          </a:prstGeom>
        </p:spPr>
        <p:txBody>
          <a:bodyPr wrap="square">
            <a:spAutoFit/>
          </a:bodyPr>
          <a:lstStyle/>
          <a:p>
            <a:pPr algn="ctr"/>
            <a:r>
              <a:rPr lang="en-US" sz="2400" b="1" dirty="0" err="1">
                <a:latin typeface="+mj-lt"/>
              </a:rPr>
              <a:t>Tóm tắt nhu cầu và khó khăn của người dùng</a:t>
            </a:r>
            <a:endParaRPr lang="en-US" sz="2400" b="1" dirty="0">
              <a:latin typeface="+mj-lt"/>
            </a:endParaRPr>
          </a:p>
        </p:txBody>
      </p:sp>
      <p:sp>
        <p:nvSpPr>
          <p:cNvPr id="9" name="Text Box 8"/>
          <p:cNvSpPr txBox="1"/>
          <p:nvPr/>
        </p:nvSpPr>
        <p:spPr>
          <a:xfrm>
            <a:off x="209517" y="2095500"/>
            <a:ext cx="4191000" cy="3712846"/>
          </a:xfrm>
          <a:prstGeom prst="rect">
            <a:avLst/>
          </a:prstGeom>
          <a:ln>
            <a:solidFill>
              <a:schemeClr val="tx1"/>
            </a:solidFill>
          </a:ln>
        </p:spPr>
        <p:txBody>
          <a:bodyPr wrap="square">
            <a:noAutofit/>
          </a:bodyPr>
          <a:lstStyle/>
          <a:p>
            <a:r>
              <a:rPr lang="vi-VN" sz="2000" b="1"/>
              <a:t>Nhu cầu của người dùng</a:t>
            </a:r>
          </a:p>
          <a:p>
            <a:pPr marL="342900" indent="-342900">
              <a:buFont typeface="Arial" panose="020B0604020202020204" pitchFamily="34" charset="0"/>
              <a:buChar char="•"/>
            </a:pPr>
            <a:r>
              <a:rPr lang="vi-VN" sz="2000"/>
              <a:t>Cần ứng dụng đơn giản, dễ sử dụng vì không có nhiều thời gian</a:t>
            </a:r>
            <a:endParaRPr lang="en-US" sz="2000"/>
          </a:p>
          <a:p>
            <a:pPr marL="342900" indent="-342900">
              <a:buFont typeface="Arial" panose="020B0604020202020204" pitchFamily="34" charset="0"/>
              <a:buChar char="•"/>
            </a:pPr>
            <a:r>
              <a:rPr lang="vi-VN" sz="2000"/>
              <a:t>Muốn có nhắc nhở vận động, ăn uống, ngủ nghỉ để tránh quên</a:t>
            </a:r>
            <a:endParaRPr lang="en-US" sz="2000"/>
          </a:p>
          <a:p>
            <a:pPr marL="342900" indent="-342900">
              <a:buFont typeface="Arial" panose="020B0604020202020204" pitchFamily="34" charset="0"/>
              <a:buChar char="•"/>
            </a:pPr>
            <a:r>
              <a:rPr lang="vi-VN" sz="2000"/>
              <a:t>Mong muốn gợi ý phù hợp với sinh hoạt hằng ngày, không gây áp lực</a:t>
            </a:r>
          </a:p>
        </p:txBody>
      </p:sp>
      <p:sp>
        <p:nvSpPr>
          <p:cNvPr id="10" name="Text Box 9"/>
          <p:cNvSpPr txBox="1"/>
          <p:nvPr/>
        </p:nvSpPr>
        <p:spPr>
          <a:xfrm>
            <a:off x="4743483" y="2095500"/>
            <a:ext cx="4191000" cy="3612842"/>
          </a:xfrm>
          <a:prstGeom prst="rect">
            <a:avLst/>
          </a:prstGeom>
          <a:ln>
            <a:solidFill>
              <a:schemeClr val="tx1"/>
            </a:solidFill>
          </a:ln>
        </p:spPr>
        <p:txBody>
          <a:bodyPr wrap="square">
            <a:noAutofit/>
          </a:bodyPr>
          <a:lstStyle/>
          <a:p>
            <a:r>
              <a:rPr lang="vi-VN" sz="2000" b="1"/>
              <a:t>Khó khăn của người dùng</a:t>
            </a:r>
          </a:p>
          <a:p>
            <a:pPr marL="285750" indent="-285750">
              <a:buFont typeface="Arial" panose="020B0604020202020204" pitchFamily="34" charset="0"/>
              <a:buChar char="•"/>
            </a:pPr>
            <a:r>
              <a:rPr lang="vi-VN" sz="2000" b="1"/>
              <a:t>Dễ quên</a:t>
            </a:r>
            <a:r>
              <a:rPr lang="vi-VN" sz="2000"/>
              <a:t> vận động, ngủ nghỉ không đúng giờ</a:t>
            </a:r>
            <a:endParaRPr lang="en-US" sz="2000"/>
          </a:p>
          <a:p>
            <a:pPr marL="285750" indent="-285750">
              <a:buFont typeface="Arial" panose="020B0604020202020204" pitchFamily="34" charset="0"/>
              <a:buChar char="•"/>
            </a:pPr>
            <a:r>
              <a:rPr lang="vi-VN" sz="2000" b="1"/>
              <a:t>Thiếu thời gian</a:t>
            </a:r>
            <a:r>
              <a:rPr lang="vi-VN" sz="2000"/>
              <a:t> chăm sóc sức khỏe</a:t>
            </a:r>
            <a:endParaRPr lang="en-US" sz="2000"/>
          </a:p>
          <a:p>
            <a:pPr marL="285750" indent="-285750">
              <a:buFont typeface="Arial" panose="020B0604020202020204" pitchFamily="34" charset="0"/>
              <a:buChar char="•"/>
            </a:pPr>
            <a:r>
              <a:rPr lang="vi-VN" sz="2000" b="1"/>
              <a:t>Khó duy trì thói quen lâu dài</a:t>
            </a:r>
            <a:endParaRPr lang="en-US" sz="2000" b="1"/>
          </a:p>
          <a:p>
            <a:pPr marL="285750" indent="-285750">
              <a:buFont typeface="Arial" panose="020B0604020202020204" pitchFamily="34" charset="0"/>
              <a:buChar char="•"/>
            </a:pPr>
            <a:r>
              <a:rPr lang="vi-VN" sz="2000"/>
              <a:t>Không biết </a:t>
            </a:r>
            <a:r>
              <a:rPr lang="vi-VN" sz="2000" b="1"/>
              <a:t>bắt đầu từ đâu</a:t>
            </a:r>
            <a:r>
              <a:rPr lang="vi-VN" sz="2000"/>
              <a:t> để sống lành mạnh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III: KẾT QUẢ NGHIÊN CỨU</a:t>
            </a:r>
          </a:p>
        </p:txBody>
      </p:sp>
      <p:sp>
        <p:nvSpPr>
          <p:cNvPr id="4" name="TextBox 3"/>
          <p:cNvSpPr txBox="1"/>
          <p:nvPr/>
        </p:nvSpPr>
        <p:spPr>
          <a:xfrm>
            <a:off x="0" y="969756"/>
            <a:ext cx="9144000" cy="5693866"/>
          </a:xfrm>
          <a:prstGeom prst="rect">
            <a:avLst/>
          </a:prstGeom>
          <a:noFill/>
        </p:spPr>
        <p:txBody>
          <a:bodyPr wrap="square">
            <a:spAutoFit/>
          </a:bodyPr>
          <a:lstStyle/>
          <a:p>
            <a:pPr>
              <a:buNone/>
            </a:pPr>
            <a:r>
              <a:rPr lang="vi-VN"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Điểm đau (Pain Points)</a:t>
            </a:r>
            <a:endParaRPr lang="en-US" sz="2400" b="1" dirty="0">
              <a:latin typeface="Times New Roman" panose="02020603050405020304" pitchFamily="18" charset="0"/>
              <a:cs typeface="Times New Roman" panose="02020603050405020304" pitchFamily="18" charset="0"/>
            </a:endParaRPr>
          </a:p>
          <a:p>
            <a:r>
              <a:rPr lang="en-US" sz="2000" b="1"/>
              <a:t>	</a:t>
            </a:r>
            <a:r>
              <a:rPr lang="vi-VN" sz="2000" b="1"/>
              <a:t>Khó duy trì lối sống lành mạnh</a:t>
            </a:r>
          </a:p>
          <a:p>
            <a:pPr marL="800100" lvl="1" indent="-342900">
              <a:buFont typeface="Arial" panose="020B0604020202020204" pitchFamily="34" charset="0"/>
              <a:buChar char="•"/>
            </a:pPr>
            <a:r>
              <a:rPr lang="vi-VN" sz="2000"/>
              <a:t>Người dùng biết sức khỏe quan trọng nhưng khó duy trì đều đặn các thói quen như ăn uống khoa học, vận động và ngủ đúng giờ.</a:t>
            </a:r>
          </a:p>
          <a:p>
            <a:r>
              <a:rPr lang="en-US" sz="2000" b="1"/>
              <a:t>	</a:t>
            </a:r>
            <a:r>
              <a:rPr lang="vi-VN" sz="2000" b="1"/>
              <a:t>Thiếu thời gian &amp; động lực</a:t>
            </a:r>
          </a:p>
          <a:p>
            <a:pPr marL="800100" lvl="1" indent="-342900">
              <a:buFont typeface="Arial" panose="020B0604020202020204" pitchFamily="34" charset="0"/>
              <a:buChar char="•"/>
            </a:pPr>
            <a:r>
              <a:rPr lang="vi-VN" sz="2000"/>
              <a:t>Lịch học tập, công việc bận rộn khiến người dùng dễ quên chăm sóc sức khỏe, nhanh nản và bỏ giữa chừng.</a:t>
            </a:r>
          </a:p>
          <a:p>
            <a:r>
              <a:rPr lang="en-US" sz="2000" b="1"/>
              <a:t>	</a:t>
            </a:r>
            <a:r>
              <a:rPr lang="vi-VN" sz="2000" b="1"/>
              <a:t>Thiếu công cụ hỗ trợ phù hợp</a:t>
            </a:r>
          </a:p>
          <a:p>
            <a:pPr marL="800100" lvl="1" indent="-342900">
              <a:buFont typeface="Arial" panose="020B0604020202020204" pitchFamily="34" charset="0"/>
              <a:buChar char="•"/>
            </a:pPr>
            <a:r>
              <a:rPr lang="vi-VN" sz="2000"/>
              <a:t>Nhiều ứng dụng sức khỏe hiện nay phức tạp, khó dùng, ít cá nhân hóa, không tạo được động lực lâu dài.</a:t>
            </a:r>
          </a:p>
          <a:p>
            <a:r>
              <a:rPr lang="en-US" sz="2000" b="1"/>
              <a:t>	</a:t>
            </a:r>
            <a:r>
              <a:rPr lang="vi-VN" sz="2000" b="1"/>
              <a:t>Thói quen sinh hoạt không ổn định</a:t>
            </a:r>
          </a:p>
          <a:p>
            <a:pPr marL="800100" lvl="1" indent="-342900">
              <a:buFont typeface="Arial" panose="020B0604020202020204" pitchFamily="34" charset="0"/>
              <a:buChar char="•"/>
            </a:pPr>
            <a:r>
              <a:rPr lang="vi-VN" sz="2000"/>
              <a:t>Sinh hoạt thất thường, ngủ muộn, ít vận động và không theo dõi sức khỏe thường xuyên.</a:t>
            </a:r>
          </a:p>
          <a:p>
            <a:r>
              <a:rPr lang="en-US" sz="2000" b="1"/>
              <a:t>	</a:t>
            </a:r>
            <a:r>
              <a:rPr lang="vi-VN" sz="2000" b="1"/>
              <a:t>Insight</a:t>
            </a:r>
          </a:p>
          <a:p>
            <a:pPr marL="742950" lvl="1" indent="-285750">
              <a:buFont typeface="Arial" panose="020B0604020202020204" pitchFamily="34" charset="0"/>
              <a:buChar char="•"/>
            </a:pPr>
            <a:r>
              <a:rPr lang="vi-VN" sz="2000"/>
              <a:t>Người dùng cần một hệ thống đơn giản – trực quan – dễ sử dụng, có nhắc nhở thông minh, theo dõi rõ ràng và lộ trình phù hợp, giúp hình thành và duy trì lối sống lành mạnh hằng ngày.</a:t>
            </a:r>
          </a:p>
          <a:p>
            <a:pPr>
              <a:buNone/>
            </a:pPr>
            <a:endParaRPr lang="vi-V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FFFE6-B880-4203-A3DC-998108CD77C1}"/>
              </a:ext>
            </a:extLst>
          </p:cNvPr>
          <p:cNvSpPr>
            <a:spLocks noGrp="1"/>
          </p:cNvSpPr>
          <p:nvPr>
            <p:ph type="title"/>
          </p:nvPr>
        </p:nvSpPr>
        <p:spPr>
          <a:xfrm>
            <a:off x="0" y="0"/>
            <a:ext cx="9144000" cy="872359"/>
          </a:xfrm>
        </p:spPr>
        <p:txBody>
          <a:bodyPr/>
          <a:lstStyle/>
          <a:p>
            <a:r>
              <a:rPr lang="en-US" sz="3300"/>
              <a:t>CHƯƠNG III: HIỆN THỰC HOÁ NGHIÊN CỨU</a:t>
            </a:r>
          </a:p>
        </p:txBody>
      </p:sp>
      <p:pic>
        <p:nvPicPr>
          <p:cNvPr id="5" name="Content Placeholder 4">
            <a:extLst>
              <a:ext uri="{FF2B5EF4-FFF2-40B4-BE49-F238E27FC236}">
                <a16:creationId xmlns:a16="http://schemas.microsoft.com/office/drawing/2014/main" id="{DAE91CCD-58CF-4606-B627-D9302BBB5DFB}"/>
              </a:ext>
            </a:extLst>
          </p:cNvPr>
          <p:cNvPicPr>
            <a:picLocks noGrp="1" noChangeAspect="1"/>
          </p:cNvPicPr>
          <p:nvPr>
            <p:ph idx="1"/>
          </p:nvPr>
        </p:nvPicPr>
        <p:blipFill>
          <a:blip r:embed="rId2"/>
          <a:stretch>
            <a:fillRect/>
          </a:stretch>
        </p:blipFill>
        <p:spPr>
          <a:xfrm>
            <a:off x="457199" y="1639081"/>
            <a:ext cx="8229600" cy="3838084"/>
          </a:xfrm>
        </p:spPr>
      </p:pic>
      <p:sp>
        <p:nvSpPr>
          <p:cNvPr id="6" name="TextBox 5">
            <a:extLst>
              <a:ext uri="{FF2B5EF4-FFF2-40B4-BE49-F238E27FC236}">
                <a16:creationId xmlns:a16="http://schemas.microsoft.com/office/drawing/2014/main" id="{50BB1CC8-6B68-410C-9D8D-C4699B8F4857}"/>
              </a:ext>
            </a:extLst>
          </p:cNvPr>
          <p:cNvSpPr txBox="1"/>
          <p:nvPr/>
        </p:nvSpPr>
        <p:spPr>
          <a:xfrm>
            <a:off x="2157248" y="1177416"/>
            <a:ext cx="4829503" cy="461665"/>
          </a:xfrm>
          <a:prstGeom prst="rect">
            <a:avLst/>
          </a:prstGeom>
          <a:noFill/>
        </p:spPr>
        <p:txBody>
          <a:bodyPr wrap="square">
            <a:spAutoFit/>
          </a:bodyPr>
          <a:lstStyle/>
          <a:p>
            <a:pPr algn="ctr"/>
            <a:r>
              <a:rPr lang="en-US" altLang="en-US" sz="2400" b="1">
                <a:latin typeface="Times New Roman" panose="02020603050405020304" pitchFamily="18" charset="0"/>
                <a:cs typeface="Times New Roman" panose="02020603050405020304" pitchFamily="18" charset="0"/>
              </a:rPr>
              <a:t>Biểu đồ đồng cảm – Empathy Maps</a:t>
            </a:r>
            <a:endParaRPr lang="en-US"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470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2F48-EE83-42E0-97DC-044C9B9DC35D}"/>
              </a:ext>
            </a:extLst>
          </p:cNvPr>
          <p:cNvSpPr>
            <a:spLocks noGrp="1"/>
          </p:cNvSpPr>
          <p:nvPr>
            <p:ph type="title"/>
          </p:nvPr>
        </p:nvSpPr>
        <p:spPr>
          <a:xfrm>
            <a:off x="0" y="0"/>
            <a:ext cx="9143999" cy="893379"/>
          </a:xfrm>
        </p:spPr>
        <p:txBody>
          <a:bodyPr/>
          <a:lstStyle/>
          <a:p>
            <a:r>
              <a:rPr lang="en-US" sz="3300"/>
              <a:t>CHƯƠNG III: HIỆN THỰC HOÁ NGHIÊN CỨU</a:t>
            </a:r>
          </a:p>
        </p:txBody>
      </p:sp>
      <p:pic>
        <p:nvPicPr>
          <p:cNvPr id="6" name="Content Placeholder 5">
            <a:extLst>
              <a:ext uri="{FF2B5EF4-FFF2-40B4-BE49-F238E27FC236}">
                <a16:creationId xmlns:a16="http://schemas.microsoft.com/office/drawing/2014/main" id="{DDFB5164-C0FA-432C-A8A7-BEC99E8D9093}"/>
              </a:ext>
            </a:extLst>
          </p:cNvPr>
          <p:cNvPicPr>
            <a:picLocks noGrp="1" noChangeAspect="1"/>
          </p:cNvPicPr>
          <p:nvPr>
            <p:ph idx="1"/>
          </p:nvPr>
        </p:nvPicPr>
        <p:blipFill>
          <a:blip r:embed="rId2"/>
          <a:stretch>
            <a:fillRect/>
          </a:stretch>
        </p:blipFill>
        <p:spPr>
          <a:xfrm>
            <a:off x="457200" y="1648976"/>
            <a:ext cx="8229600" cy="3846178"/>
          </a:xfrm>
        </p:spPr>
      </p:pic>
      <p:sp>
        <p:nvSpPr>
          <p:cNvPr id="4" name="TextBox 3">
            <a:extLst>
              <a:ext uri="{FF2B5EF4-FFF2-40B4-BE49-F238E27FC236}">
                <a16:creationId xmlns:a16="http://schemas.microsoft.com/office/drawing/2014/main" id="{A97D051A-9D9F-4074-8951-5E26D55779CA}"/>
              </a:ext>
            </a:extLst>
          </p:cNvPr>
          <p:cNvSpPr txBox="1"/>
          <p:nvPr/>
        </p:nvSpPr>
        <p:spPr>
          <a:xfrm>
            <a:off x="2157247" y="1187311"/>
            <a:ext cx="4829503" cy="461665"/>
          </a:xfrm>
          <a:prstGeom prst="rect">
            <a:avLst/>
          </a:prstGeom>
          <a:noFill/>
        </p:spPr>
        <p:txBody>
          <a:bodyPr wrap="square">
            <a:spAutoFit/>
          </a:bodyPr>
          <a:lstStyle/>
          <a:p>
            <a:pPr algn="ctr"/>
            <a:r>
              <a:rPr lang="en-US" altLang="en-US" sz="2400" b="1">
                <a:latin typeface="Times New Roman" panose="02020603050405020304" pitchFamily="18" charset="0"/>
                <a:cs typeface="Times New Roman" panose="02020603050405020304" pitchFamily="18" charset="0"/>
              </a:rPr>
              <a:t>Biểu đồ đồng cảm – Empathy Maps</a:t>
            </a:r>
            <a:endParaRPr lang="en-US"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999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8B78-993B-4D34-A8BB-77EF48F9A4AD}"/>
              </a:ext>
            </a:extLst>
          </p:cNvPr>
          <p:cNvSpPr>
            <a:spLocks noGrp="1"/>
          </p:cNvSpPr>
          <p:nvPr>
            <p:ph type="title"/>
          </p:nvPr>
        </p:nvSpPr>
        <p:spPr>
          <a:xfrm>
            <a:off x="0" y="0"/>
            <a:ext cx="9144000" cy="882869"/>
          </a:xfrm>
        </p:spPr>
        <p:txBody>
          <a:bodyPr/>
          <a:lstStyle/>
          <a:p>
            <a:r>
              <a:rPr lang="en-US" sz="3300"/>
              <a:t>CHƯƠNG III: HIỆN THỰC HOÁ NGHIÊN CỨU</a:t>
            </a:r>
          </a:p>
        </p:txBody>
      </p:sp>
      <p:pic>
        <p:nvPicPr>
          <p:cNvPr id="6" name="Content Placeholder 5">
            <a:extLst>
              <a:ext uri="{FF2B5EF4-FFF2-40B4-BE49-F238E27FC236}">
                <a16:creationId xmlns:a16="http://schemas.microsoft.com/office/drawing/2014/main" id="{93F55788-2A2F-4A05-9B51-7F0CAD103C0B}"/>
              </a:ext>
            </a:extLst>
          </p:cNvPr>
          <p:cNvPicPr>
            <a:picLocks noGrp="1" noChangeAspect="1"/>
          </p:cNvPicPr>
          <p:nvPr>
            <p:ph idx="1"/>
          </p:nvPr>
        </p:nvPicPr>
        <p:blipFill>
          <a:blip r:embed="rId2"/>
          <a:stretch>
            <a:fillRect/>
          </a:stretch>
        </p:blipFill>
        <p:spPr>
          <a:xfrm>
            <a:off x="457200" y="1652291"/>
            <a:ext cx="8229600" cy="3806266"/>
          </a:xfrm>
        </p:spPr>
      </p:pic>
      <p:sp>
        <p:nvSpPr>
          <p:cNvPr id="4" name="TextBox 3">
            <a:extLst>
              <a:ext uri="{FF2B5EF4-FFF2-40B4-BE49-F238E27FC236}">
                <a16:creationId xmlns:a16="http://schemas.microsoft.com/office/drawing/2014/main" id="{8B2542CF-465D-4963-9506-4DC461A27AA9}"/>
              </a:ext>
            </a:extLst>
          </p:cNvPr>
          <p:cNvSpPr txBox="1"/>
          <p:nvPr/>
        </p:nvSpPr>
        <p:spPr>
          <a:xfrm>
            <a:off x="2157248" y="1190626"/>
            <a:ext cx="4829503" cy="461665"/>
          </a:xfrm>
          <a:prstGeom prst="rect">
            <a:avLst/>
          </a:prstGeom>
          <a:noFill/>
        </p:spPr>
        <p:txBody>
          <a:bodyPr wrap="square">
            <a:spAutoFit/>
          </a:bodyPr>
          <a:lstStyle/>
          <a:p>
            <a:pPr algn="ctr"/>
            <a:r>
              <a:rPr lang="en-US" altLang="en-US" sz="2400" b="1">
                <a:latin typeface="Times New Roman" panose="02020603050405020304" pitchFamily="18" charset="0"/>
                <a:cs typeface="Times New Roman" panose="02020603050405020304" pitchFamily="18" charset="0"/>
              </a:rPr>
              <a:t>Biểu đồ đồng cảm – Empathy Maps</a:t>
            </a:r>
            <a:endParaRPr lang="en-US"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042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05A1-5B0B-495B-894F-347FA6466320}"/>
              </a:ext>
            </a:extLst>
          </p:cNvPr>
          <p:cNvSpPr>
            <a:spLocks noGrp="1"/>
          </p:cNvSpPr>
          <p:nvPr>
            <p:ph type="title"/>
          </p:nvPr>
        </p:nvSpPr>
        <p:spPr>
          <a:xfrm>
            <a:off x="0" y="1369"/>
            <a:ext cx="9144000" cy="892010"/>
          </a:xfrm>
        </p:spPr>
        <p:txBody>
          <a:bodyPr/>
          <a:lstStyle/>
          <a:p>
            <a:r>
              <a:rPr lang="en-US" sz="3300"/>
              <a:t>CHƯƠNG III: HIỆN THỰC HOÁ NGHIÊN CỨU</a:t>
            </a:r>
          </a:p>
        </p:txBody>
      </p:sp>
      <p:pic>
        <p:nvPicPr>
          <p:cNvPr id="6" name="Content Placeholder 5">
            <a:extLst>
              <a:ext uri="{FF2B5EF4-FFF2-40B4-BE49-F238E27FC236}">
                <a16:creationId xmlns:a16="http://schemas.microsoft.com/office/drawing/2014/main" id="{1839A9A6-6DF1-45AC-9D81-E07D47250BE3}"/>
              </a:ext>
            </a:extLst>
          </p:cNvPr>
          <p:cNvPicPr>
            <a:picLocks noGrp="1" noChangeAspect="1"/>
          </p:cNvPicPr>
          <p:nvPr>
            <p:ph idx="1"/>
          </p:nvPr>
        </p:nvPicPr>
        <p:blipFill>
          <a:blip r:embed="rId2"/>
          <a:stretch>
            <a:fillRect/>
          </a:stretch>
        </p:blipFill>
        <p:spPr>
          <a:xfrm>
            <a:off x="457200" y="1658016"/>
            <a:ext cx="8229600" cy="3804385"/>
          </a:xfrm>
        </p:spPr>
      </p:pic>
      <p:sp>
        <p:nvSpPr>
          <p:cNvPr id="4" name="TextBox 3">
            <a:extLst>
              <a:ext uri="{FF2B5EF4-FFF2-40B4-BE49-F238E27FC236}">
                <a16:creationId xmlns:a16="http://schemas.microsoft.com/office/drawing/2014/main" id="{6C1B0A97-C723-48FA-9F7D-5B49529C2484}"/>
              </a:ext>
            </a:extLst>
          </p:cNvPr>
          <p:cNvSpPr txBox="1"/>
          <p:nvPr/>
        </p:nvSpPr>
        <p:spPr>
          <a:xfrm>
            <a:off x="2157248" y="1196351"/>
            <a:ext cx="4829503" cy="461665"/>
          </a:xfrm>
          <a:prstGeom prst="rect">
            <a:avLst/>
          </a:prstGeom>
          <a:noFill/>
        </p:spPr>
        <p:txBody>
          <a:bodyPr wrap="square">
            <a:spAutoFit/>
          </a:bodyPr>
          <a:lstStyle/>
          <a:p>
            <a:pPr algn="ctr"/>
            <a:r>
              <a:rPr lang="en-US" altLang="en-US" sz="2400" b="1">
                <a:latin typeface="Times New Roman" panose="02020603050405020304" pitchFamily="18" charset="0"/>
                <a:cs typeface="Times New Roman" panose="02020603050405020304" pitchFamily="18" charset="0"/>
              </a:rPr>
              <a:t>Biểu đồ đồng cảm – Empathy Maps</a:t>
            </a:r>
            <a:endParaRPr lang="en-US"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985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19C31-9B51-4129-BCD4-D11C0A9983CE}"/>
              </a:ext>
            </a:extLst>
          </p:cNvPr>
          <p:cNvSpPr>
            <a:spLocks noGrp="1"/>
          </p:cNvSpPr>
          <p:nvPr>
            <p:ph type="title"/>
          </p:nvPr>
        </p:nvSpPr>
        <p:spPr>
          <a:xfrm>
            <a:off x="0" y="0"/>
            <a:ext cx="9144000" cy="872359"/>
          </a:xfrm>
        </p:spPr>
        <p:txBody>
          <a:bodyPr/>
          <a:lstStyle/>
          <a:p>
            <a:r>
              <a:rPr lang="en-US" sz="3300"/>
              <a:t>CHƯƠNG III: HIỆN THỰC HOÁ NGHIÊN CỨU</a:t>
            </a:r>
          </a:p>
        </p:txBody>
      </p:sp>
      <p:pic>
        <p:nvPicPr>
          <p:cNvPr id="6" name="Content Placeholder 5">
            <a:extLst>
              <a:ext uri="{FF2B5EF4-FFF2-40B4-BE49-F238E27FC236}">
                <a16:creationId xmlns:a16="http://schemas.microsoft.com/office/drawing/2014/main" id="{B77D3783-304F-4978-AE29-F7154FD1E333}"/>
              </a:ext>
            </a:extLst>
          </p:cNvPr>
          <p:cNvPicPr>
            <a:picLocks noGrp="1" noChangeAspect="1"/>
          </p:cNvPicPr>
          <p:nvPr>
            <p:ph idx="1"/>
          </p:nvPr>
        </p:nvPicPr>
        <p:blipFill>
          <a:blip r:embed="rId2"/>
          <a:stretch>
            <a:fillRect/>
          </a:stretch>
        </p:blipFill>
        <p:spPr>
          <a:xfrm>
            <a:off x="457200" y="1579437"/>
            <a:ext cx="8229600" cy="3808263"/>
          </a:xfrm>
        </p:spPr>
      </p:pic>
      <p:sp>
        <p:nvSpPr>
          <p:cNvPr id="4" name="TextBox 3">
            <a:extLst>
              <a:ext uri="{FF2B5EF4-FFF2-40B4-BE49-F238E27FC236}">
                <a16:creationId xmlns:a16="http://schemas.microsoft.com/office/drawing/2014/main" id="{7CE500ED-F277-4689-8528-B19B4E59DE32}"/>
              </a:ext>
            </a:extLst>
          </p:cNvPr>
          <p:cNvSpPr txBox="1"/>
          <p:nvPr/>
        </p:nvSpPr>
        <p:spPr>
          <a:xfrm>
            <a:off x="2157248" y="1117772"/>
            <a:ext cx="4829503" cy="461665"/>
          </a:xfrm>
          <a:prstGeom prst="rect">
            <a:avLst/>
          </a:prstGeom>
          <a:noFill/>
        </p:spPr>
        <p:txBody>
          <a:bodyPr wrap="square">
            <a:spAutoFit/>
          </a:bodyPr>
          <a:lstStyle/>
          <a:p>
            <a:pPr algn="ctr"/>
            <a:r>
              <a:rPr lang="en-US" altLang="en-US" sz="2400" b="1">
                <a:latin typeface="Times New Roman" panose="02020603050405020304" pitchFamily="18" charset="0"/>
                <a:cs typeface="Times New Roman" panose="02020603050405020304" pitchFamily="18" charset="0"/>
              </a:rPr>
              <a:t>Biểu đồ đồng cảm – Empathy Maps</a:t>
            </a:r>
            <a:endParaRPr lang="en-US"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95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3DBF-E637-4E59-ABFE-CA47FF1EE952}"/>
              </a:ext>
            </a:extLst>
          </p:cNvPr>
          <p:cNvSpPr>
            <a:spLocks noGrp="1"/>
          </p:cNvSpPr>
          <p:nvPr>
            <p:ph type="title"/>
          </p:nvPr>
        </p:nvSpPr>
        <p:spPr>
          <a:xfrm>
            <a:off x="0" y="11879"/>
            <a:ext cx="9144000" cy="870990"/>
          </a:xfrm>
        </p:spPr>
        <p:txBody>
          <a:bodyPr/>
          <a:lstStyle/>
          <a:p>
            <a:r>
              <a:rPr lang="en-US" sz="3300"/>
              <a:t>CHƯƠNG III: HIỆN THỰC HOÁ NGHIÊN CỨU</a:t>
            </a:r>
          </a:p>
        </p:txBody>
      </p:sp>
      <p:sp>
        <p:nvSpPr>
          <p:cNvPr id="4" name="TextBox 3">
            <a:extLst>
              <a:ext uri="{FF2B5EF4-FFF2-40B4-BE49-F238E27FC236}">
                <a16:creationId xmlns:a16="http://schemas.microsoft.com/office/drawing/2014/main" id="{DCA112C4-7FA9-46B6-8066-9B1F04794178}"/>
              </a:ext>
            </a:extLst>
          </p:cNvPr>
          <p:cNvSpPr txBox="1"/>
          <p:nvPr/>
        </p:nvSpPr>
        <p:spPr>
          <a:xfrm>
            <a:off x="2157248" y="1050616"/>
            <a:ext cx="4829503" cy="461665"/>
          </a:xfrm>
          <a:prstGeom prst="rect">
            <a:avLst/>
          </a:prstGeom>
          <a:noFill/>
        </p:spPr>
        <p:txBody>
          <a:bodyPr wrap="square">
            <a:spAutoFit/>
          </a:bodyPr>
          <a:lstStyle/>
          <a:p>
            <a:pPr algn="ctr"/>
            <a:r>
              <a:rPr lang="en-US" altLang="en-US" sz="2400" b="1">
                <a:latin typeface="Times New Roman" panose="02020603050405020304" pitchFamily="18" charset="0"/>
                <a:cs typeface="Times New Roman" panose="02020603050405020304" pitchFamily="18" charset="0"/>
              </a:rPr>
              <a:t>Chân dung ngươi dùng </a:t>
            </a:r>
            <a:endParaRPr lang="en-US" altLang="en-US" sz="2400" b="1"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56225D3A-BDFA-4C74-94B8-F8AC21A4D48B}"/>
              </a:ext>
            </a:extLst>
          </p:cNvPr>
          <p:cNvPicPr>
            <a:picLocks noGrp="1" noChangeAspect="1"/>
          </p:cNvPicPr>
          <p:nvPr>
            <p:ph idx="1"/>
          </p:nvPr>
        </p:nvPicPr>
        <p:blipFill>
          <a:blip r:embed="rId2"/>
          <a:stretch>
            <a:fillRect/>
          </a:stretch>
        </p:blipFill>
        <p:spPr>
          <a:xfrm>
            <a:off x="912436" y="1600200"/>
            <a:ext cx="7319128" cy="4525963"/>
          </a:xfrm>
        </p:spPr>
      </p:pic>
    </p:spTree>
    <p:extLst>
      <p:ext uri="{BB962C8B-B14F-4D97-AF65-F5344CB8AC3E}">
        <p14:creationId xmlns:p14="http://schemas.microsoft.com/office/powerpoint/2010/main" val="2724179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vi-VN" altLang="en-US" sz="3300"/>
              <a:t>CHƯƠNG IV: </a:t>
            </a:r>
            <a:r>
              <a:rPr lang="en-US" altLang="en-US" sz="3300"/>
              <a:t>KẾT QUẢ NGHIÊN CỨU</a:t>
            </a:r>
            <a:endParaRPr lang="vi-VN" altLang="en-US" sz="3300"/>
          </a:p>
        </p:txBody>
      </p:sp>
      <p:sp>
        <p:nvSpPr>
          <p:cNvPr id="5" name="TextBox 4"/>
          <p:cNvSpPr txBox="1"/>
          <p:nvPr/>
        </p:nvSpPr>
        <p:spPr>
          <a:xfrm>
            <a:off x="2330450" y="975242"/>
            <a:ext cx="4572000" cy="830997"/>
          </a:xfrm>
          <a:prstGeom prst="rect">
            <a:avLst/>
          </a:prstGeom>
          <a:noFill/>
        </p:spPr>
        <p:txBody>
          <a:bodyPr wrap="square">
            <a:spAutoFit/>
          </a:bodyPr>
          <a:lstStyle/>
          <a:p>
            <a:pPr algn="ctr"/>
            <a:r>
              <a:rPr lang="en-US" altLang="en-US" sz="2400" b="1" dirty="0">
                <a:latin typeface="Times New Roman" panose="02020603050405020304" pitchFamily="18" charset="0"/>
                <a:cs typeface="Times New Roman" panose="02020603050405020304" pitchFamily="18" charset="0"/>
              </a:rPr>
              <a:t>Giao </a:t>
            </a:r>
            <a:r>
              <a:rPr lang="en-US" altLang="en-US" sz="2400" b="1" dirty="0" err="1">
                <a:latin typeface="Times New Roman" panose="02020603050405020304" pitchFamily="18" charset="0"/>
                <a:cs typeface="Times New Roman" panose="02020603050405020304" pitchFamily="18" charset="0"/>
              </a:rPr>
              <a:t>diện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khi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khởi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động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ứng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dụng</a:t>
            </a:r>
            <a:r>
              <a:rPr lang="en-US" altLang="en-US" sz="2400" b="1" dirty="0">
                <a:latin typeface="Times New Roman" panose="02020603050405020304" pitchFamily="18" charset="0"/>
                <a:cs typeface="Times New Roman" panose="02020603050405020304" pitchFamily="18" charset="0"/>
              </a:rPr>
              <a:t> </a:t>
            </a:r>
            <a:r>
              <a:rPr lang="en-US" altLang="en-US" sz="2400" b="1" err="1">
                <a:latin typeface="Times New Roman" panose="02020603050405020304" pitchFamily="18" charset="0"/>
                <a:cs typeface="Times New Roman" panose="02020603050405020304" pitchFamily="18" charset="0"/>
              </a:rPr>
              <a:t>và</a:t>
            </a:r>
            <a:r>
              <a:rPr lang="en-US" altLang="en-US" sz="2400" b="1">
                <a:latin typeface="Times New Roman" panose="02020603050405020304" pitchFamily="18" charset="0"/>
                <a:cs typeface="Times New Roman" panose="02020603050405020304" pitchFamily="18" charset="0"/>
              </a:rPr>
              <a:t> đăng nhập đăng ký</a:t>
            </a:r>
            <a:endParaRPr lang="en-US" altLang="en-US" sz="2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82FDEDB-A8DD-4F6C-ABFC-7CA4712842F9}"/>
              </a:ext>
            </a:extLst>
          </p:cNvPr>
          <p:cNvPicPr>
            <a:picLocks noChangeAspect="1"/>
          </p:cNvPicPr>
          <p:nvPr/>
        </p:nvPicPr>
        <p:blipFill>
          <a:blip r:embed="rId2"/>
          <a:stretch>
            <a:fillRect/>
          </a:stretch>
        </p:blipFill>
        <p:spPr>
          <a:xfrm>
            <a:off x="1356782" y="1908699"/>
            <a:ext cx="1947335" cy="3974059"/>
          </a:xfrm>
          <a:prstGeom prst="rect">
            <a:avLst/>
          </a:prstGeom>
        </p:spPr>
      </p:pic>
      <p:pic>
        <p:nvPicPr>
          <p:cNvPr id="11" name="Picture 10">
            <a:extLst>
              <a:ext uri="{FF2B5EF4-FFF2-40B4-BE49-F238E27FC236}">
                <a16:creationId xmlns:a16="http://schemas.microsoft.com/office/drawing/2014/main" id="{96B4BE45-827C-40CF-BE15-914598A4F6C3}"/>
              </a:ext>
            </a:extLst>
          </p:cNvPr>
          <p:cNvPicPr>
            <a:picLocks noChangeAspect="1"/>
          </p:cNvPicPr>
          <p:nvPr/>
        </p:nvPicPr>
        <p:blipFill>
          <a:blip r:embed="rId3"/>
          <a:stretch>
            <a:fillRect/>
          </a:stretch>
        </p:blipFill>
        <p:spPr>
          <a:xfrm>
            <a:off x="3558721" y="1908699"/>
            <a:ext cx="2115458" cy="3974059"/>
          </a:xfrm>
          <a:prstGeom prst="rect">
            <a:avLst/>
          </a:prstGeom>
        </p:spPr>
      </p:pic>
      <p:pic>
        <p:nvPicPr>
          <p:cNvPr id="13" name="Picture 12">
            <a:extLst>
              <a:ext uri="{FF2B5EF4-FFF2-40B4-BE49-F238E27FC236}">
                <a16:creationId xmlns:a16="http://schemas.microsoft.com/office/drawing/2014/main" id="{36B0B6A5-5906-4202-8FE0-CE12EB81F8E1}"/>
              </a:ext>
            </a:extLst>
          </p:cNvPr>
          <p:cNvPicPr>
            <a:picLocks noChangeAspect="1"/>
          </p:cNvPicPr>
          <p:nvPr/>
        </p:nvPicPr>
        <p:blipFill>
          <a:blip r:embed="rId4"/>
          <a:stretch>
            <a:fillRect/>
          </a:stretch>
        </p:blipFill>
        <p:spPr>
          <a:xfrm>
            <a:off x="5928783" y="1908699"/>
            <a:ext cx="2049493" cy="39740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IV: </a:t>
            </a:r>
            <a:r>
              <a:rPr lang="en-US" altLang="en-US" sz="3300"/>
              <a:t>KẾT QUẢ NGHIÊN CỨU</a:t>
            </a:r>
            <a:endParaRPr lang="vi-VN" altLang="en-US" sz="3300"/>
          </a:p>
        </p:txBody>
      </p:sp>
      <p:sp>
        <p:nvSpPr>
          <p:cNvPr id="12" name="TextBox 11"/>
          <p:cNvSpPr txBox="1"/>
          <p:nvPr/>
        </p:nvSpPr>
        <p:spPr>
          <a:xfrm>
            <a:off x="2396067" y="1049655"/>
            <a:ext cx="4572000" cy="830997"/>
          </a:xfrm>
          <a:prstGeom prst="rect">
            <a:avLst/>
          </a:prstGeom>
          <a:noFill/>
        </p:spPr>
        <p:txBody>
          <a:bodyPr wrap="square">
            <a:spAutoFit/>
          </a:bodyPr>
          <a:lstStyle/>
          <a:p>
            <a:pPr algn="ctr"/>
            <a:r>
              <a:rPr lang="en-US" altLang="en-US" sz="2400" b="1" err="1">
                <a:latin typeface="Times New Roman" panose="02020603050405020304" pitchFamily="18" charset="0"/>
                <a:cs typeface="Times New Roman" panose="02020603050405020304" pitchFamily="18" charset="0"/>
              </a:rPr>
              <a:t>Màn</a:t>
            </a:r>
            <a:r>
              <a:rPr lang="en-US" altLang="en-US" sz="2400" b="1">
                <a:latin typeface="Times New Roman" panose="02020603050405020304" pitchFamily="18" charset="0"/>
                <a:cs typeface="Times New Roman" panose="02020603050405020304" pitchFamily="18" charset="0"/>
              </a:rPr>
              <a:t> hình chính và các chức năng ứng dụng </a:t>
            </a:r>
            <a:endParaRPr lang="en-US" altLang="en-US" sz="2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4EDC9D7-AC4C-4049-B1AB-F53C9170141F}"/>
              </a:ext>
            </a:extLst>
          </p:cNvPr>
          <p:cNvPicPr>
            <a:picLocks noChangeAspect="1"/>
          </p:cNvPicPr>
          <p:nvPr/>
        </p:nvPicPr>
        <p:blipFill>
          <a:blip r:embed="rId2"/>
          <a:stretch>
            <a:fillRect/>
          </a:stretch>
        </p:blipFill>
        <p:spPr>
          <a:xfrm>
            <a:off x="80266" y="1883589"/>
            <a:ext cx="2113040" cy="4040056"/>
          </a:xfrm>
          <a:prstGeom prst="rect">
            <a:avLst/>
          </a:prstGeom>
        </p:spPr>
      </p:pic>
      <p:pic>
        <p:nvPicPr>
          <p:cNvPr id="11" name="Picture 10">
            <a:extLst>
              <a:ext uri="{FF2B5EF4-FFF2-40B4-BE49-F238E27FC236}">
                <a16:creationId xmlns:a16="http://schemas.microsoft.com/office/drawing/2014/main" id="{EF88380D-F15C-4477-9E95-0D92BC9872A0}"/>
              </a:ext>
            </a:extLst>
          </p:cNvPr>
          <p:cNvPicPr>
            <a:picLocks noChangeAspect="1"/>
          </p:cNvPicPr>
          <p:nvPr/>
        </p:nvPicPr>
        <p:blipFill>
          <a:blip r:embed="rId3"/>
          <a:stretch>
            <a:fillRect/>
          </a:stretch>
        </p:blipFill>
        <p:spPr>
          <a:xfrm>
            <a:off x="2388316" y="1883589"/>
            <a:ext cx="2113040" cy="4040056"/>
          </a:xfrm>
          <a:prstGeom prst="rect">
            <a:avLst/>
          </a:prstGeom>
        </p:spPr>
      </p:pic>
      <p:pic>
        <p:nvPicPr>
          <p:cNvPr id="14" name="Picture 13">
            <a:extLst>
              <a:ext uri="{FF2B5EF4-FFF2-40B4-BE49-F238E27FC236}">
                <a16:creationId xmlns:a16="http://schemas.microsoft.com/office/drawing/2014/main" id="{8AA26CEF-C5F3-4CF8-B770-4623B34E980D}"/>
              </a:ext>
            </a:extLst>
          </p:cNvPr>
          <p:cNvPicPr>
            <a:picLocks noChangeAspect="1"/>
          </p:cNvPicPr>
          <p:nvPr/>
        </p:nvPicPr>
        <p:blipFill>
          <a:blip r:embed="rId4"/>
          <a:stretch>
            <a:fillRect/>
          </a:stretch>
        </p:blipFill>
        <p:spPr>
          <a:xfrm>
            <a:off x="4696366" y="1883589"/>
            <a:ext cx="2024838" cy="4040056"/>
          </a:xfrm>
          <a:prstGeom prst="rect">
            <a:avLst/>
          </a:prstGeom>
        </p:spPr>
      </p:pic>
      <p:pic>
        <p:nvPicPr>
          <p:cNvPr id="16" name="Picture 15">
            <a:extLst>
              <a:ext uri="{FF2B5EF4-FFF2-40B4-BE49-F238E27FC236}">
                <a16:creationId xmlns:a16="http://schemas.microsoft.com/office/drawing/2014/main" id="{CEDAF85F-D442-421F-A328-73523FFB7EFB}"/>
              </a:ext>
            </a:extLst>
          </p:cNvPr>
          <p:cNvPicPr>
            <a:picLocks noChangeAspect="1"/>
          </p:cNvPicPr>
          <p:nvPr/>
        </p:nvPicPr>
        <p:blipFill>
          <a:blip r:embed="rId5"/>
          <a:stretch>
            <a:fillRect/>
          </a:stretch>
        </p:blipFill>
        <p:spPr>
          <a:xfrm>
            <a:off x="6912492" y="1883589"/>
            <a:ext cx="2131178" cy="40400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IV: </a:t>
            </a:r>
            <a:r>
              <a:rPr lang="en-US" altLang="en-US" sz="3300"/>
              <a:t>KẾT QUẢ NGHIÊN CỨU</a:t>
            </a:r>
            <a:endParaRPr lang="vi-VN" altLang="en-US" sz="3300"/>
          </a:p>
        </p:txBody>
      </p:sp>
      <p:sp>
        <p:nvSpPr>
          <p:cNvPr id="6" name="TextBox 5"/>
          <p:cNvSpPr txBox="1"/>
          <p:nvPr/>
        </p:nvSpPr>
        <p:spPr>
          <a:xfrm>
            <a:off x="2285999" y="960355"/>
            <a:ext cx="5139267" cy="461665"/>
          </a:xfrm>
          <a:prstGeom prst="rect">
            <a:avLst/>
          </a:prstGeom>
          <a:noFill/>
        </p:spPr>
        <p:txBody>
          <a:bodyPr wrap="square">
            <a:spAutoFit/>
          </a:bodyPr>
          <a:lstStyle/>
          <a:p>
            <a:pPr algn="ctr"/>
            <a:r>
              <a:rPr lang="vi-VN"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giao</a:t>
            </a:r>
            <a:r>
              <a:rPr lang="en-US" altLang="en-US" sz="2400" b="1" dirty="0">
                <a:latin typeface="Times New Roman" panose="02020603050405020304" pitchFamily="18" charset="0"/>
                <a:cs typeface="Times New Roman" panose="02020603050405020304" pitchFamily="18" charset="0"/>
              </a:rPr>
              <a:t> </a:t>
            </a:r>
            <a:r>
              <a:rPr lang="en-US" altLang="en-US" sz="2400" b="1" err="1">
                <a:latin typeface="Times New Roman" panose="02020603050405020304" pitchFamily="18" charset="0"/>
                <a:cs typeface="Times New Roman" panose="02020603050405020304" pitchFamily="18" charset="0"/>
              </a:rPr>
              <a:t>diện</a:t>
            </a:r>
            <a:r>
              <a:rPr lang="en-US" altLang="en-US" sz="2400" b="1">
                <a:latin typeface="Times New Roman" panose="02020603050405020304" pitchFamily="18" charset="0"/>
                <a:cs typeface="Times New Roman" panose="02020603050405020304" pitchFamily="18" charset="0"/>
              </a:rPr>
              <a:t> Sức Khoẻ </a:t>
            </a:r>
            <a:endParaRPr lang="en-US" altLang="en-US"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8121160-3B7B-4DE5-9870-FCDF9CF9FB19}"/>
              </a:ext>
            </a:extLst>
          </p:cNvPr>
          <p:cNvPicPr>
            <a:picLocks noChangeAspect="1"/>
          </p:cNvPicPr>
          <p:nvPr/>
        </p:nvPicPr>
        <p:blipFill>
          <a:blip r:embed="rId3"/>
          <a:stretch>
            <a:fillRect/>
          </a:stretch>
        </p:blipFill>
        <p:spPr>
          <a:xfrm>
            <a:off x="934673" y="1450667"/>
            <a:ext cx="2011015" cy="3846355"/>
          </a:xfrm>
          <a:prstGeom prst="rect">
            <a:avLst/>
          </a:prstGeom>
        </p:spPr>
      </p:pic>
      <p:pic>
        <p:nvPicPr>
          <p:cNvPr id="11" name="Picture 10">
            <a:extLst>
              <a:ext uri="{FF2B5EF4-FFF2-40B4-BE49-F238E27FC236}">
                <a16:creationId xmlns:a16="http://schemas.microsoft.com/office/drawing/2014/main" id="{BF9BC4E2-08A4-4C2E-9D74-83BD4D489648}"/>
              </a:ext>
            </a:extLst>
          </p:cNvPr>
          <p:cNvPicPr>
            <a:picLocks noChangeAspect="1"/>
          </p:cNvPicPr>
          <p:nvPr/>
        </p:nvPicPr>
        <p:blipFill>
          <a:blip r:embed="rId4"/>
          <a:stretch>
            <a:fillRect/>
          </a:stretch>
        </p:blipFill>
        <p:spPr>
          <a:xfrm>
            <a:off x="4382740" y="1680390"/>
            <a:ext cx="1537474" cy="3172924"/>
          </a:xfrm>
          <a:prstGeom prst="rect">
            <a:avLst/>
          </a:prstGeom>
        </p:spPr>
      </p:pic>
      <p:pic>
        <p:nvPicPr>
          <p:cNvPr id="13" name="Picture 12">
            <a:extLst>
              <a:ext uri="{FF2B5EF4-FFF2-40B4-BE49-F238E27FC236}">
                <a16:creationId xmlns:a16="http://schemas.microsoft.com/office/drawing/2014/main" id="{184DDA99-4571-4517-8B5A-773241AB8BD2}"/>
              </a:ext>
            </a:extLst>
          </p:cNvPr>
          <p:cNvPicPr>
            <a:picLocks noChangeAspect="1"/>
          </p:cNvPicPr>
          <p:nvPr/>
        </p:nvPicPr>
        <p:blipFill>
          <a:blip r:embed="rId5"/>
          <a:stretch>
            <a:fillRect/>
          </a:stretch>
        </p:blipFill>
        <p:spPr>
          <a:xfrm>
            <a:off x="6604419" y="1680390"/>
            <a:ext cx="1641693" cy="3172924"/>
          </a:xfrm>
          <a:prstGeom prst="rect">
            <a:avLst/>
          </a:prstGeom>
        </p:spPr>
      </p:pic>
      <p:sp>
        <p:nvSpPr>
          <p:cNvPr id="14" name="TextBox 13">
            <a:extLst>
              <a:ext uri="{FF2B5EF4-FFF2-40B4-BE49-F238E27FC236}">
                <a16:creationId xmlns:a16="http://schemas.microsoft.com/office/drawing/2014/main" id="{AB573E4D-286D-45E5-879A-D5B2DE76ACF0}"/>
              </a:ext>
            </a:extLst>
          </p:cNvPr>
          <p:cNvSpPr txBox="1"/>
          <p:nvPr/>
        </p:nvSpPr>
        <p:spPr>
          <a:xfrm>
            <a:off x="3646742" y="4927018"/>
            <a:ext cx="3009469" cy="369332"/>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Chức năng đo nhịp tim </a:t>
            </a:r>
            <a:endParaRPr lang="en-US" altLang="en-US" sz="18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07C9774-E017-43A8-86F6-B1D4A9BE564D}"/>
              </a:ext>
            </a:extLst>
          </p:cNvPr>
          <p:cNvSpPr txBox="1"/>
          <p:nvPr/>
        </p:nvSpPr>
        <p:spPr>
          <a:xfrm>
            <a:off x="6198313" y="4927018"/>
            <a:ext cx="2579839" cy="369332"/>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Chức năng thư giản </a:t>
            </a:r>
            <a:endParaRPr lang="en-US" altLang="en-US" sz="18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931EFB6-E463-4BF6-8C6B-F78E8B258D14}"/>
              </a:ext>
            </a:extLst>
          </p:cNvPr>
          <p:cNvSpPr txBox="1"/>
          <p:nvPr>
            <p:custDataLst>
              <p:tags r:id="rId1"/>
            </p:custDataLst>
          </p:nvPr>
        </p:nvSpPr>
        <p:spPr>
          <a:xfrm>
            <a:off x="-189260" y="5324998"/>
            <a:ext cx="4572000" cy="368300"/>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Màn hình chính chức năng </a:t>
            </a:r>
            <a:r>
              <a:rPr lang="en-US" altLang="en-US" b="1">
                <a:latin typeface="Times New Roman" panose="02020603050405020304" pitchFamily="18" charset="0"/>
                <a:cs typeface="Times New Roman" panose="02020603050405020304" pitchFamily="18" charset="0"/>
              </a:rPr>
              <a:t>Sức khoẻ </a:t>
            </a:r>
            <a:endParaRPr lang="en-US" alt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IV: </a:t>
            </a:r>
            <a:r>
              <a:rPr lang="en-US" altLang="en-US" sz="3300"/>
              <a:t>KẾT QUẢ NGHIÊN CỨU</a:t>
            </a:r>
            <a:endParaRPr lang="vi-VN" altLang="en-US" sz="3300"/>
          </a:p>
        </p:txBody>
      </p:sp>
      <p:sp>
        <p:nvSpPr>
          <p:cNvPr id="18" name="TextBox 17"/>
          <p:cNvSpPr txBox="1"/>
          <p:nvPr/>
        </p:nvSpPr>
        <p:spPr>
          <a:xfrm>
            <a:off x="1432610" y="970280"/>
            <a:ext cx="6028478" cy="461665"/>
          </a:xfrm>
          <a:prstGeom prst="rect">
            <a:avLst/>
          </a:prstGeom>
          <a:noFill/>
        </p:spPr>
        <p:txBody>
          <a:bodyPr wrap="square">
            <a:spAutoFit/>
          </a:bodyPr>
          <a:lstStyle/>
          <a:p>
            <a:pPr algn="ct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err="1">
                <a:latin typeface="Times New Roman" panose="02020603050405020304" pitchFamily="18" charset="0"/>
                <a:cs typeface="Times New Roman" panose="02020603050405020304" pitchFamily="18" charset="0"/>
              </a:rPr>
              <a:t>hình</a:t>
            </a:r>
            <a:r>
              <a:rPr lang="en-US" altLang="en-US" sz="2400" b="1">
                <a:latin typeface="Times New Roman" panose="02020603050405020304" pitchFamily="18" charset="0"/>
                <a:cs typeface="Times New Roman" panose="02020603050405020304" pitchFamily="18" charset="0"/>
              </a:rPr>
              <a:t> giao diện Thể Thao</a:t>
            </a:r>
            <a:endParaRPr lang="en-US" altLang="en-US" sz="2400" b="1"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3846815" y="5262459"/>
            <a:ext cx="3027224" cy="369332"/>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err="1">
                <a:latin typeface="Times New Roman" panose="02020603050405020304" pitchFamily="18" charset="0"/>
                <a:cs typeface="Times New Roman" panose="02020603050405020304" pitchFamily="18" charset="0"/>
              </a:rPr>
              <a:t>năng</a:t>
            </a:r>
            <a:r>
              <a:rPr lang="en-US" altLang="en-US" sz="1800" b="1">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chạy bộ</a:t>
            </a:r>
            <a:endParaRPr lang="en-US" altLang="en-US" sz="1800" b="1"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6111557" y="5280850"/>
            <a:ext cx="3027224" cy="369332"/>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err="1">
                <a:latin typeface="Times New Roman" panose="02020603050405020304" pitchFamily="18" charset="0"/>
                <a:cs typeface="Times New Roman" panose="02020603050405020304" pitchFamily="18" charset="0"/>
              </a:rPr>
              <a:t>năng</a:t>
            </a:r>
            <a:r>
              <a:rPr lang="en-US" altLang="en-US" sz="1800" b="1">
                <a:latin typeface="Times New Roman" panose="02020603050405020304" pitchFamily="18" charset="0"/>
                <a:cs typeface="Times New Roman" panose="02020603050405020304" pitchFamily="18" charset="0"/>
              </a:rPr>
              <a:t> đạp xe</a:t>
            </a:r>
            <a:endParaRPr lang="en-US" altLang="en-US" sz="18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16B0D96-6302-4764-819B-4D20DA0B472D}"/>
              </a:ext>
            </a:extLst>
          </p:cNvPr>
          <p:cNvPicPr>
            <a:picLocks noChangeAspect="1"/>
          </p:cNvPicPr>
          <p:nvPr/>
        </p:nvPicPr>
        <p:blipFill>
          <a:blip r:embed="rId3"/>
          <a:stretch>
            <a:fillRect/>
          </a:stretch>
        </p:blipFill>
        <p:spPr>
          <a:xfrm>
            <a:off x="987339" y="1530822"/>
            <a:ext cx="2027122" cy="4122628"/>
          </a:xfrm>
          <a:prstGeom prst="rect">
            <a:avLst/>
          </a:prstGeom>
        </p:spPr>
      </p:pic>
      <p:pic>
        <p:nvPicPr>
          <p:cNvPr id="11" name="Picture 10">
            <a:extLst>
              <a:ext uri="{FF2B5EF4-FFF2-40B4-BE49-F238E27FC236}">
                <a16:creationId xmlns:a16="http://schemas.microsoft.com/office/drawing/2014/main" id="{4C5A8B0E-5434-4253-922E-3C06D6B2DE6C}"/>
              </a:ext>
            </a:extLst>
          </p:cNvPr>
          <p:cNvPicPr>
            <a:picLocks noChangeAspect="1"/>
          </p:cNvPicPr>
          <p:nvPr/>
        </p:nvPicPr>
        <p:blipFill>
          <a:blip r:embed="rId4"/>
          <a:stretch>
            <a:fillRect/>
          </a:stretch>
        </p:blipFill>
        <p:spPr>
          <a:xfrm>
            <a:off x="4446849" y="1689833"/>
            <a:ext cx="1827157" cy="3591017"/>
          </a:xfrm>
          <a:prstGeom prst="rect">
            <a:avLst/>
          </a:prstGeom>
        </p:spPr>
      </p:pic>
      <p:pic>
        <p:nvPicPr>
          <p:cNvPr id="13" name="Picture 12">
            <a:extLst>
              <a:ext uri="{FF2B5EF4-FFF2-40B4-BE49-F238E27FC236}">
                <a16:creationId xmlns:a16="http://schemas.microsoft.com/office/drawing/2014/main" id="{38C550F5-E3EA-4D91-B743-0273F708C1D7}"/>
              </a:ext>
            </a:extLst>
          </p:cNvPr>
          <p:cNvPicPr>
            <a:picLocks noChangeAspect="1"/>
          </p:cNvPicPr>
          <p:nvPr/>
        </p:nvPicPr>
        <p:blipFill>
          <a:blip r:embed="rId5"/>
          <a:stretch>
            <a:fillRect/>
          </a:stretch>
        </p:blipFill>
        <p:spPr>
          <a:xfrm>
            <a:off x="6734663" y="1694105"/>
            <a:ext cx="1781012" cy="3591017"/>
          </a:xfrm>
          <a:prstGeom prst="rect">
            <a:avLst/>
          </a:prstGeom>
        </p:spPr>
      </p:pic>
      <p:sp>
        <p:nvSpPr>
          <p:cNvPr id="9" name="TextBox 8">
            <a:extLst>
              <a:ext uri="{FF2B5EF4-FFF2-40B4-BE49-F238E27FC236}">
                <a16:creationId xmlns:a16="http://schemas.microsoft.com/office/drawing/2014/main" id="{F92B2012-B9FF-4BD6-86C1-9CECE91045E2}"/>
              </a:ext>
            </a:extLst>
          </p:cNvPr>
          <p:cNvSpPr txBox="1"/>
          <p:nvPr>
            <p:custDataLst>
              <p:tags r:id="rId1"/>
            </p:custDataLst>
          </p:nvPr>
        </p:nvSpPr>
        <p:spPr>
          <a:xfrm>
            <a:off x="-285100" y="5672342"/>
            <a:ext cx="4572000" cy="368300"/>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Màn hình chính chức năng Thể Thao</a:t>
            </a:r>
            <a:endParaRPr lang="en-US" alt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0A0A-60D7-432F-9D74-748C038A2109}"/>
              </a:ext>
            </a:extLst>
          </p:cNvPr>
          <p:cNvSpPr>
            <a:spLocks noGrp="1"/>
          </p:cNvSpPr>
          <p:nvPr>
            <p:ph type="title"/>
          </p:nvPr>
        </p:nvSpPr>
        <p:spPr>
          <a:xfrm>
            <a:off x="328474" y="0"/>
            <a:ext cx="8487052" cy="1143000"/>
          </a:xfrm>
        </p:spPr>
        <p:txBody>
          <a:bodyPr/>
          <a:lstStyle/>
          <a:p>
            <a:r>
              <a:rPr lang="vi-VN" altLang="en-US" sz="3600"/>
              <a:t>CHƯƠNG IV: </a:t>
            </a:r>
            <a:r>
              <a:rPr lang="en-US" altLang="en-US" sz="3600"/>
              <a:t>KẾT QUẢ NGHIÊN CỨU</a:t>
            </a:r>
            <a:endParaRPr lang="en-US"/>
          </a:p>
        </p:txBody>
      </p:sp>
      <p:pic>
        <p:nvPicPr>
          <p:cNvPr id="5" name="Picture 4">
            <a:extLst>
              <a:ext uri="{FF2B5EF4-FFF2-40B4-BE49-F238E27FC236}">
                <a16:creationId xmlns:a16="http://schemas.microsoft.com/office/drawing/2014/main" id="{291115C5-C180-44EF-B23D-0222F66631E9}"/>
              </a:ext>
            </a:extLst>
          </p:cNvPr>
          <p:cNvPicPr>
            <a:picLocks noChangeAspect="1"/>
          </p:cNvPicPr>
          <p:nvPr/>
        </p:nvPicPr>
        <p:blipFill>
          <a:blip r:embed="rId3"/>
          <a:stretch>
            <a:fillRect/>
          </a:stretch>
        </p:blipFill>
        <p:spPr>
          <a:xfrm>
            <a:off x="912522" y="1412280"/>
            <a:ext cx="2127987" cy="4107290"/>
          </a:xfrm>
          <a:prstGeom prst="rect">
            <a:avLst/>
          </a:prstGeom>
        </p:spPr>
      </p:pic>
      <p:pic>
        <p:nvPicPr>
          <p:cNvPr id="7" name="Picture 6">
            <a:extLst>
              <a:ext uri="{FF2B5EF4-FFF2-40B4-BE49-F238E27FC236}">
                <a16:creationId xmlns:a16="http://schemas.microsoft.com/office/drawing/2014/main" id="{8CE57FD4-5121-4B9E-BF68-EF376B9192D7}"/>
              </a:ext>
            </a:extLst>
          </p:cNvPr>
          <p:cNvPicPr>
            <a:picLocks noChangeAspect="1"/>
          </p:cNvPicPr>
          <p:nvPr/>
        </p:nvPicPr>
        <p:blipFill>
          <a:blip r:embed="rId4"/>
          <a:stretch>
            <a:fillRect/>
          </a:stretch>
        </p:blipFill>
        <p:spPr>
          <a:xfrm>
            <a:off x="4254569" y="1434126"/>
            <a:ext cx="1801862" cy="3298969"/>
          </a:xfrm>
          <a:prstGeom prst="rect">
            <a:avLst/>
          </a:prstGeom>
        </p:spPr>
      </p:pic>
      <p:pic>
        <p:nvPicPr>
          <p:cNvPr id="9" name="Picture 8">
            <a:extLst>
              <a:ext uri="{FF2B5EF4-FFF2-40B4-BE49-F238E27FC236}">
                <a16:creationId xmlns:a16="http://schemas.microsoft.com/office/drawing/2014/main" id="{79F2CF5B-803C-4AD3-8A70-2B822BC96A09}"/>
              </a:ext>
            </a:extLst>
          </p:cNvPr>
          <p:cNvPicPr>
            <a:picLocks noChangeAspect="1"/>
          </p:cNvPicPr>
          <p:nvPr/>
        </p:nvPicPr>
        <p:blipFill>
          <a:blip r:embed="rId5"/>
          <a:stretch>
            <a:fillRect/>
          </a:stretch>
        </p:blipFill>
        <p:spPr>
          <a:xfrm>
            <a:off x="6895581" y="1439853"/>
            <a:ext cx="1722854" cy="3293242"/>
          </a:xfrm>
          <a:prstGeom prst="rect">
            <a:avLst/>
          </a:prstGeom>
        </p:spPr>
      </p:pic>
      <p:sp>
        <p:nvSpPr>
          <p:cNvPr id="10" name="TextBox 9">
            <a:extLst>
              <a:ext uri="{FF2B5EF4-FFF2-40B4-BE49-F238E27FC236}">
                <a16:creationId xmlns:a16="http://schemas.microsoft.com/office/drawing/2014/main" id="{7A1AEA9F-8DD2-41DD-B3BB-64144D6941E0}"/>
              </a:ext>
            </a:extLst>
          </p:cNvPr>
          <p:cNvSpPr txBox="1"/>
          <p:nvPr/>
        </p:nvSpPr>
        <p:spPr>
          <a:xfrm>
            <a:off x="3623407" y="4757394"/>
            <a:ext cx="3027224" cy="369332"/>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err="1">
                <a:latin typeface="Times New Roman" panose="02020603050405020304" pitchFamily="18" charset="0"/>
                <a:cs typeface="Times New Roman" panose="02020603050405020304" pitchFamily="18" charset="0"/>
              </a:rPr>
              <a:t>năng</a:t>
            </a:r>
            <a:r>
              <a:rPr lang="en-US" altLang="en-US" sz="1800" b="1">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ngủ tối </a:t>
            </a:r>
            <a:endParaRPr lang="en-US" altLang="en-US" sz="18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573B72C-0CC1-452F-9643-EBAEB685FD2A}"/>
              </a:ext>
            </a:extLst>
          </p:cNvPr>
          <p:cNvSpPr txBox="1"/>
          <p:nvPr/>
        </p:nvSpPr>
        <p:spPr>
          <a:xfrm>
            <a:off x="6243396" y="4746923"/>
            <a:ext cx="3027224" cy="369332"/>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err="1">
                <a:latin typeface="Times New Roman" panose="02020603050405020304" pitchFamily="18" charset="0"/>
                <a:cs typeface="Times New Roman" panose="02020603050405020304" pitchFamily="18" charset="0"/>
              </a:rPr>
              <a:t>năng</a:t>
            </a:r>
            <a:r>
              <a:rPr lang="en-US" altLang="en-US" sz="1800" b="1">
                <a:latin typeface="Times New Roman" panose="02020603050405020304" pitchFamily="18" charset="0"/>
                <a:cs typeface="Times New Roman" panose="02020603050405020304" pitchFamily="18" charset="0"/>
              </a:rPr>
              <a:t> ngủ sáng </a:t>
            </a:r>
            <a:endParaRPr lang="en-US" altLang="en-US" sz="18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F049C28-4377-4D85-8400-CE5167BA0D6F}"/>
              </a:ext>
            </a:extLst>
          </p:cNvPr>
          <p:cNvSpPr txBox="1"/>
          <p:nvPr/>
        </p:nvSpPr>
        <p:spPr>
          <a:xfrm>
            <a:off x="880497" y="973751"/>
            <a:ext cx="6748144" cy="460375"/>
          </a:xfrm>
          <a:prstGeom prst="rect">
            <a:avLst/>
          </a:prstGeom>
          <a:noFill/>
        </p:spPr>
        <p:txBody>
          <a:bodyPr wrap="square">
            <a:spAutoFit/>
          </a:bodyPr>
          <a:lstStyle/>
          <a:p>
            <a:pPr algn="ct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a:t>
            </a:r>
            <a:r>
              <a:rPr lang="en-US" altLang="en-US" sz="2400" b="1" err="1">
                <a:latin typeface="Times New Roman" panose="02020603050405020304" pitchFamily="18" charset="0"/>
                <a:cs typeface="Times New Roman" panose="02020603050405020304" pitchFamily="18" charset="0"/>
              </a:rPr>
              <a:t>chức</a:t>
            </a:r>
            <a:r>
              <a:rPr lang="en-US" altLang="en-US" sz="2400" b="1">
                <a:latin typeface="Times New Roman" panose="02020603050405020304" pitchFamily="18" charset="0"/>
                <a:cs typeface="Times New Roman" panose="02020603050405020304" pitchFamily="18" charset="0"/>
              </a:rPr>
              <a:t> năng Giấc Ngủ </a:t>
            </a:r>
            <a:endParaRPr lang="en-US" altLang="en-US"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03DC999-E519-4419-B745-927F2421AD00}"/>
              </a:ext>
            </a:extLst>
          </p:cNvPr>
          <p:cNvSpPr txBox="1"/>
          <p:nvPr>
            <p:custDataLst>
              <p:tags r:id="rId1"/>
            </p:custDataLst>
          </p:nvPr>
        </p:nvSpPr>
        <p:spPr>
          <a:xfrm>
            <a:off x="-189064" y="5519570"/>
            <a:ext cx="4572000" cy="368300"/>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Màn hình chính chức năng Giấc Ngủ </a:t>
            </a:r>
            <a:endParaRPr lang="en-US" alt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2435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IV: </a:t>
            </a:r>
            <a:r>
              <a:rPr lang="en-US" altLang="en-US" sz="3300"/>
              <a:t>KẾT QUẢ NGHIÊN CỨU</a:t>
            </a:r>
            <a:endParaRPr lang="vi-VN" altLang="en-US" sz="3300"/>
          </a:p>
        </p:txBody>
      </p:sp>
      <p:sp>
        <p:nvSpPr>
          <p:cNvPr id="18" name="TextBox 17"/>
          <p:cNvSpPr txBox="1"/>
          <p:nvPr/>
        </p:nvSpPr>
        <p:spPr>
          <a:xfrm>
            <a:off x="1008864" y="951905"/>
            <a:ext cx="6748144" cy="460375"/>
          </a:xfrm>
          <a:prstGeom prst="rect">
            <a:avLst/>
          </a:prstGeom>
          <a:noFill/>
        </p:spPr>
        <p:txBody>
          <a:bodyPr wrap="square">
            <a:spAutoFit/>
          </a:bodyPr>
          <a:lstStyle/>
          <a:p>
            <a:pPr algn="ct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a:t>
            </a:r>
            <a:r>
              <a:rPr lang="en-US" altLang="en-US" sz="2400" b="1" err="1">
                <a:latin typeface="Times New Roman" panose="02020603050405020304" pitchFamily="18" charset="0"/>
                <a:cs typeface="Times New Roman" panose="02020603050405020304" pitchFamily="18" charset="0"/>
              </a:rPr>
              <a:t>chức</a:t>
            </a:r>
            <a:r>
              <a:rPr lang="en-US" altLang="en-US" sz="2400" b="1">
                <a:latin typeface="Times New Roman" panose="02020603050405020304" pitchFamily="18" charset="0"/>
                <a:cs typeface="Times New Roman" panose="02020603050405020304" pitchFamily="18" charset="0"/>
              </a:rPr>
              <a:t> năng gợi ý Món Ăn </a:t>
            </a:r>
            <a:endParaRPr lang="en-US" altLang="en-US" sz="2400" b="1" dirty="0">
              <a:latin typeface="Times New Roman" panose="02020603050405020304" pitchFamily="18" charset="0"/>
              <a:cs typeface="Times New Roman" panose="02020603050405020304" pitchFamily="18" charset="0"/>
            </a:endParaRPr>
          </a:p>
        </p:txBody>
      </p:sp>
      <p:sp>
        <p:nvSpPr>
          <p:cNvPr id="20" name="TextBox 19"/>
          <p:cNvSpPr txBox="1"/>
          <p:nvPr>
            <p:custDataLst>
              <p:tags r:id="rId1"/>
            </p:custDataLst>
          </p:nvPr>
        </p:nvSpPr>
        <p:spPr>
          <a:xfrm>
            <a:off x="-335912" y="5582283"/>
            <a:ext cx="4572000" cy="368300"/>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Màn hình chính chức năng </a:t>
            </a:r>
            <a:r>
              <a:rPr lang="en-US" altLang="en-US" b="1">
                <a:latin typeface="Times New Roman" panose="02020603050405020304" pitchFamily="18" charset="0"/>
                <a:cs typeface="Times New Roman" panose="02020603050405020304" pitchFamily="18" charset="0"/>
              </a:rPr>
              <a:t>Ă</a:t>
            </a:r>
            <a:r>
              <a:rPr lang="en-US" altLang="en-US" sz="1800" b="1">
                <a:latin typeface="Times New Roman" panose="02020603050405020304" pitchFamily="18" charset="0"/>
                <a:cs typeface="Times New Roman" panose="02020603050405020304" pitchFamily="18" charset="0"/>
              </a:rPr>
              <a:t>n </a:t>
            </a:r>
            <a:r>
              <a:rPr lang="en-US" altLang="en-US" b="1">
                <a:latin typeface="Times New Roman" panose="02020603050405020304" pitchFamily="18" charset="0"/>
                <a:cs typeface="Times New Roman" panose="02020603050405020304" pitchFamily="18" charset="0"/>
              </a:rPr>
              <a:t>U</a:t>
            </a:r>
            <a:r>
              <a:rPr lang="en-US" altLang="en-US" sz="1800" b="1">
                <a:latin typeface="Times New Roman" panose="02020603050405020304" pitchFamily="18" charset="0"/>
                <a:cs typeface="Times New Roman" panose="02020603050405020304" pitchFamily="18" charset="0"/>
              </a:rPr>
              <a:t>ống </a:t>
            </a:r>
            <a:endParaRPr lang="en-US" altLang="en-US" sz="1800" b="1" dirty="0">
              <a:latin typeface="Times New Roman" panose="02020603050405020304" pitchFamily="18" charset="0"/>
              <a:cs typeface="Times New Roman" panose="02020603050405020304" pitchFamily="18" charset="0"/>
            </a:endParaRPr>
          </a:p>
        </p:txBody>
      </p:sp>
      <p:sp>
        <p:nvSpPr>
          <p:cNvPr id="21" name="TextBox 20"/>
          <p:cNvSpPr txBox="1"/>
          <p:nvPr>
            <p:custDataLst>
              <p:tags r:id="rId2"/>
            </p:custDataLst>
          </p:nvPr>
        </p:nvSpPr>
        <p:spPr>
          <a:xfrm>
            <a:off x="4382936" y="4212580"/>
            <a:ext cx="3169285" cy="368300"/>
          </a:xfrm>
          <a:prstGeom prst="rect">
            <a:avLst/>
          </a:prstGeom>
          <a:noFill/>
        </p:spPr>
        <p:txBody>
          <a:bodyPr wrap="square">
            <a:spAutoFit/>
          </a:bodyPr>
          <a:lstStyle/>
          <a:p>
            <a:pPr algn="ctr"/>
            <a:r>
              <a:rPr lang="en-US" altLang="en-US" sz="1800" b="1">
                <a:latin typeface="Times New Roman" panose="02020603050405020304" pitchFamily="18" charset="0"/>
                <a:cs typeface="Times New Roman" panose="02020603050405020304" pitchFamily="18" charset="0"/>
              </a:rPr>
              <a:t>Các màn gợi ý món ăn </a:t>
            </a:r>
            <a:endParaRPr lang="en-US" altLang="en-US" sz="18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13E6C1D-4F42-4D88-BF2D-6FB7EFC3D53C}"/>
              </a:ext>
            </a:extLst>
          </p:cNvPr>
          <p:cNvPicPr>
            <a:picLocks noChangeAspect="1"/>
          </p:cNvPicPr>
          <p:nvPr/>
        </p:nvPicPr>
        <p:blipFill>
          <a:blip r:embed="rId4"/>
          <a:stretch>
            <a:fillRect/>
          </a:stretch>
        </p:blipFill>
        <p:spPr>
          <a:xfrm>
            <a:off x="778413" y="1367272"/>
            <a:ext cx="2129804" cy="4123455"/>
          </a:xfrm>
          <a:prstGeom prst="rect">
            <a:avLst/>
          </a:prstGeom>
        </p:spPr>
      </p:pic>
      <p:pic>
        <p:nvPicPr>
          <p:cNvPr id="13" name="Picture 12">
            <a:extLst>
              <a:ext uri="{FF2B5EF4-FFF2-40B4-BE49-F238E27FC236}">
                <a16:creationId xmlns:a16="http://schemas.microsoft.com/office/drawing/2014/main" id="{FF1EEAA8-4E89-48A9-920D-D34B369490D5}"/>
              </a:ext>
            </a:extLst>
          </p:cNvPr>
          <p:cNvPicPr>
            <a:picLocks noChangeAspect="1"/>
          </p:cNvPicPr>
          <p:nvPr/>
        </p:nvPicPr>
        <p:blipFill>
          <a:blip r:embed="rId5"/>
          <a:stretch>
            <a:fillRect/>
          </a:stretch>
        </p:blipFill>
        <p:spPr>
          <a:xfrm>
            <a:off x="3925027" y="1667701"/>
            <a:ext cx="1260640" cy="2471671"/>
          </a:xfrm>
          <a:prstGeom prst="rect">
            <a:avLst/>
          </a:prstGeom>
        </p:spPr>
      </p:pic>
      <p:pic>
        <p:nvPicPr>
          <p:cNvPr id="15" name="Picture 14">
            <a:extLst>
              <a:ext uri="{FF2B5EF4-FFF2-40B4-BE49-F238E27FC236}">
                <a16:creationId xmlns:a16="http://schemas.microsoft.com/office/drawing/2014/main" id="{1E3F4646-6510-4C45-BC75-B273429571D8}"/>
              </a:ext>
            </a:extLst>
          </p:cNvPr>
          <p:cNvPicPr>
            <a:picLocks noChangeAspect="1"/>
          </p:cNvPicPr>
          <p:nvPr/>
        </p:nvPicPr>
        <p:blipFill>
          <a:blip r:embed="rId6"/>
          <a:stretch>
            <a:fillRect/>
          </a:stretch>
        </p:blipFill>
        <p:spPr>
          <a:xfrm>
            <a:off x="5185667" y="1667702"/>
            <a:ext cx="1222917" cy="2471671"/>
          </a:xfrm>
          <a:prstGeom prst="rect">
            <a:avLst/>
          </a:prstGeom>
        </p:spPr>
      </p:pic>
      <p:pic>
        <p:nvPicPr>
          <p:cNvPr id="24" name="Picture 23">
            <a:extLst>
              <a:ext uri="{FF2B5EF4-FFF2-40B4-BE49-F238E27FC236}">
                <a16:creationId xmlns:a16="http://schemas.microsoft.com/office/drawing/2014/main" id="{138A6EE3-6EA4-4336-B0D7-7ED9400918D7}"/>
              </a:ext>
            </a:extLst>
          </p:cNvPr>
          <p:cNvPicPr>
            <a:picLocks noChangeAspect="1"/>
          </p:cNvPicPr>
          <p:nvPr/>
        </p:nvPicPr>
        <p:blipFill>
          <a:blip r:embed="rId7"/>
          <a:stretch>
            <a:fillRect/>
          </a:stretch>
        </p:blipFill>
        <p:spPr>
          <a:xfrm>
            <a:off x="6408584" y="1669565"/>
            <a:ext cx="1261823" cy="247167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V: </a:t>
            </a:r>
            <a:r>
              <a:rPr lang="vi-VN" altLang="en-US" sz="3300">
                <a:sym typeface="+mn-ea"/>
              </a:rPr>
              <a:t>KẾT</a:t>
            </a:r>
            <a:r>
              <a:rPr lang="vi-VN" altLang="en-US" sz="3300"/>
              <a:t> LUẬN   </a:t>
            </a:r>
          </a:p>
        </p:txBody>
      </p:sp>
      <p:sp>
        <p:nvSpPr>
          <p:cNvPr id="5" name="TextBox 4"/>
          <p:cNvSpPr txBox="1"/>
          <p:nvPr/>
        </p:nvSpPr>
        <p:spPr>
          <a:xfrm>
            <a:off x="88900" y="959485"/>
            <a:ext cx="8765540" cy="2703830"/>
          </a:xfrm>
          <a:prstGeom prst="rect">
            <a:avLst/>
          </a:prstGeom>
          <a:noFill/>
        </p:spPr>
        <p:txBody>
          <a:bodyPr wrap="square">
            <a:noAutofit/>
          </a:bodyPr>
          <a:lstStyle/>
          <a:p>
            <a:pPr algn="l"/>
            <a:r>
              <a:rPr lang="vi-VN" sz="2400" b="1" dirty="0">
                <a:latin typeface="+mj-lt"/>
              </a:rPr>
              <a:t>Kết luận:</a:t>
            </a:r>
            <a:br>
              <a:rPr lang="vi-VN" sz="2000" dirty="0">
                <a:latin typeface="+mj-lt"/>
              </a:rPr>
            </a:br>
            <a:r>
              <a:rPr lang="en-US" sz="2000">
                <a:latin typeface="+mj-lt"/>
              </a:rPr>
              <a:t>	</a:t>
            </a:r>
            <a:r>
              <a:rPr lang="vi-VN" sz="2000"/>
              <a:t> Đề tài cho thấy </a:t>
            </a:r>
            <a:r>
              <a:rPr lang="vi-VN" sz="2000" b="1"/>
              <a:t>tính khả thi của hệ thống hỗ trợ duy trì lối sống lành mạnh ứng dụng công nghệ</a:t>
            </a:r>
            <a:r>
              <a:rPr lang="vi-VN" sz="2000"/>
              <a:t>. Hệ thống có giao diện đơn giản, dễ sử dụng, giúp người dùng theo dõi sức khỏe hiệu quả và giải quyết các “điểm đau” như thiếu thời gian, dễ quên vận động, khó duy trì thói quen tốt.</a:t>
            </a:r>
            <a:br>
              <a:rPr lang="vi-VN" sz="2000"/>
            </a:br>
            <a:r>
              <a:rPr lang="vi-VN" sz="2000"/>
              <a:t>Mặc dù còn hạn chế về phạm vi thử nghiệm và tính năng nâng cao, đề tài đã tạo </a:t>
            </a:r>
            <a:r>
              <a:rPr lang="vi-VN" sz="2000" b="1"/>
              <a:t>nền tảng vững chắc để phát triển thành một ứng dụng sức khỏe thực tế trong tương lai</a:t>
            </a:r>
            <a:r>
              <a:rPr lang="vi-VN" sz="2000"/>
              <a:t>.</a:t>
            </a:r>
            <a:endParaRPr lang="en-US" altLang="en-US" sz="2000" dirty="0">
              <a:latin typeface="+mj-lt"/>
            </a:endParaRPr>
          </a:p>
        </p:txBody>
      </p:sp>
      <p:sp>
        <p:nvSpPr>
          <p:cNvPr id="7" name="TextBox 6"/>
          <p:cNvSpPr txBox="1"/>
          <p:nvPr/>
        </p:nvSpPr>
        <p:spPr>
          <a:xfrm>
            <a:off x="88900" y="3663315"/>
            <a:ext cx="8954770" cy="2616101"/>
          </a:xfrm>
          <a:prstGeom prst="rect">
            <a:avLst/>
          </a:prstGeom>
          <a:noFill/>
        </p:spPr>
        <p:txBody>
          <a:bodyPr wrap="square">
            <a:spAutoFit/>
          </a:bodyPr>
          <a:lstStyle/>
          <a:p>
            <a:r>
              <a:rPr lang="vi-VN" sz="2400" b="1" dirty="0">
                <a:latin typeface="Times New Roman" panose="02020603050405020304" pitchFamily="18" charset="0"/>
                <a:cs typeface="Times New Roman" panose="02020603050405020304" pitchFamily="18" charset="0"/>
              </a:rPr>
              <a:t>Hướng phát </a:t>
            </a:r>
            <a:r>
              <a:rPr lang="vi-VN" sz="2400" b="1">
                <a:latin typeface="Times New Roman" panose="02020603050405020304" pitchFamily="18" charset="0"/>
                <a:cs typeface="Times New Roman" panose="02020603050405020304" pitchFamily="18" charset="0"/>
              </a:rPr>
              <a:t>triển:</a:t>
            </a:r>
            <a:endParaRPr lang="en-US"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000"/>
              <a:t>Tiếp tục hoàn thiện giao diện và mở rộng tính năng như nhắc nhở thông minh, tự động lưu dữ liệu, thống kê chi tiết và gợi ý cá nhân hóa.</a:t>
            </a:r>
            <a:endParaRPr lang="en-US" sz="2000"/>
          </a:p>
          <a:p>
            <a:pPr marL="342900" indent="-342900">
              <a:buFont typeface="Arial" panose="020B0604020202020204" pitchFamily="34" charset="0"/>
              <a:buChar char="•"/>
            </a:pPr>
            <a:r>
              <a:rPr lang="vi-VN" sz="2000"/>
              <a:t>Nâng cấp hệ thống phân tích dữ liệu sức khỏe để đưa ra khuyến nghị chính xác hơn; triển khai đa nền tảng (đặc biệt Android) và hỗ trợ sử dụng offline.</a:t>
            </a:r>
            <a:endParaRPr lang="en-US" sz="2000"/>
          </a:p>
          <a:p>
            <a:pPr marL="342900" indent="-342900">
              <a:buFont typeface="Arial" panose="020B0604020202020204" pitchFamily="34" charset="0"/>
              <a:buChar char="•"/>
            </a:pPr>
            <a:r>
              <a:rPr lang="vi-VN" sz="2000"/>
              <a:t>Mở rộng thử nghiệm trên nhiều nhóm người dùng để đánh giá hiệu quả thực tế và hoàn thiện hệ thống.</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dirty="0"/>
              <a:t>CHƯƠNG V: </a:t>
            </a:r>
            <a:r>
              <a:rPr lang="vi-VN" altLang="en-US" sz="3300" dirty="0">
                <a:sym typeface="+mn-ea"/>
              </a:rPr>
              <a:t>KẾT</a:t>
            </a:r>
            <a:r>
              <a:rPr lang="vi-VN" altLang="en-US" sz="3300" dirty="0"/>
              <a:t> LUẬN   </a:t>
            </a:r>
          </a:p>
        </p:txBody>
      </p:sp>
      <p:sp>
        <p:nvSpPr>
          <p:cNvPr id="7" name="TextBox 6"/>
          <p:cNvSpPr txBox="1"/>
          <p:nvPr/>
        </p:nvSpPr>
        <p:spPr>
          <a:xfrm>
            <a:off x="2048934" y="2177534"/>
            <a:ext cx="5494867" cy="1753235"/>
          </a:xfrm>
          <a:prstGeom prst="rect">
            <a:avLst/>
          </a:prstGeom>
          <a:noFill/>
        </p:spPr>
        <p:txBody>
          <a:bodyPr wrap="square">
            <a:spAutoFit/>
          </a:bodyPr>
          <a:lstStyle/>
          <a:p>
            <a:pPr algn="ctr">
              <a:spcAft>
                <a:spcPct val="0"/>
              </a:spcAft>
            </a:pPr>
            <a:r>
              <a:rPr lang="vi-VN" sz="5400" dirty="0">
                <a:latin typeface="Times New Roman" panose="02020603050405020304" pitchFamily="18" charset="0"/>
                <a:cs typeface="Times New Roman" panose="02020603050405020304" pitchFamily="18" charset="0"/>
              </a:rPr>
              <a:t>Cám ơn mọi người đã lắng nghe</a:t>
            </a:r>
            <a:r>
              <a:rPr lang="en-US" altLang="vi-VN" sz="5400" dirty="0">
                <a:latin typeface="Times New Roman" panose="02020603050405020304" pitchFamily="18" charset="0"/>
                <a:cs typeface="Times New Roman" panose="02020603050405020304" pitchFamily="18" charset="0"/>
              </a:rPr>
              <a:t>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89.224094488189,&quot;left&quot;:-13.694803149606297,&quot;top&quot;:131.14031496062992,&quot;width&quot;:739.268267716535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89.224094488189,&quot;left&quot;:-13.694803149606297,&quot;top&quot;:131.14031496062992,&quot;width&quot;:739.268267716535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9.224094488189,&quot;left&quot;:-13.694803149606297,&quot;top&quot;:131.14031496062992,&quot;width&quot;:739.268267716535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9.224094488189,&quot;left&quot;:-13.694803149606297,&quot;top&quot;:131.14031496062992,&quot;width&quot;:739.268267716535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9.224094488189,&quot;left&quot;:-13.694803149606297,&quot;top&quot;:131.14031496062992,&quot;width&quot;:739.2682677165355}"/>
</p:tagLst>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1474</Words>
  <Application>Microsoft Office PowerPoint</Application>
  <PresentationFormat>On-screen Show (4:3)</PresentationFormat>
  <Paragraphs>110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Art_mountaineering</vt:lpstr>
      <vt:lpstr>PowerPoint Presentation</vt:lpstr>
      <vt:lpstr>CHƯƠNG I: GIỚI THIỆU</vt:lpstr>
      <vt:lpstr>CHƯƠNG II: PHƯƠNG PHÁP NGHIÊN CỨU</vt:lpstr>
      <vt:lpstr>CHƯƠNG II: PHƯƠNG PHÁP NGHIÊN CỨU</vt:lpstr>
      <vt:lpstr>CHƯƠNG III: KẾT QUẢ NGHIÊN CỨU</vt:lpstr>
      <vt:lpstr>CHƯƠNG III: KẾT QUẢ NGHIÊN CỨU</vt:lpstr>
      <vt:lpstr>CHƯƠNG III: HIỆN THỰC HOÁ NGHIÊN CỨU</vt:lpstr>
      <vt:lpstr>CHƯƠNG III: HIỆN THỰC HOÁ NGHIÊN CỨU</vt:lpstr>
      <vt:lpstr>CHƯƠNG III: HIỆN THỰC HOÁ NGHIÊN CỨU</vt:lpstr>
      <vt:lpstr>CHƯƠNG III: HIỆN THỰC HOÁ NGHIÊN CỨU</vt:lpstr>
      <vt:lpstr>CHƯƠNG III: HIỆN THỰC HOÁ NGHIÊN CỨU</vt:lpstr>
      <vt:lpstr>CHƯƠNG III: HIỆN THỰC HOÁ NGHIÊN CỨU</vt:lpstr>
      <vt:lpstr>CHƯƠNG IV: KẾT QUẢ NGHIÊN CỨU</vt:lpstr>
      <vt:lpstr>CHƯƠNG IV: KẾT QUẢ NGHIÊN CỨU</vt:lpstr>
      <vt:lpstr>CHƯƠNG IV: KẾT QUẢ NGHIÊN CỨU</vt:lpstr>
      <vt:lpstr>CHƯƠNG IV: KẾT QUẢ NGHIÊN CỨU</vt:lpstr>
      <vt:lpstr>CHƯƠNG IV: KẾT QUẢ NGHIÊN CỨU</vt:lpstr>
      <vt:lpstr>CHƯƠNG IV: KẾT QUẢ NGHIÊN CỨU</vt:lpstr>
      <vt:lpstr>CHƯƠNG V: KẾT LUẬN   </vt:lpstr>
      <vt:lpstr>CHƯƠNG V: KẾT LUẬN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TỔNG QUAN VỀ QUẢN LÝ DỰ ÁN PHẦN MỀM</dc:title>
  <dc:creator>Khac Quoc</dc:creator>
  <dc:description>generated using python-pptx</dc:description>
  <cp:lastModifiedBy>Administrator</cp:lastModifiedBy>
  <cp:revision>45</cp:revision>
  <dcterms:created xsi:type="dcterms:W3CDTF">2013-01-27T09:14:00Z</dcterms:created>
  <dcterms:modified xsi:type="dcterms:W3CDTF">2026-01-09T04:33:17Z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03901381A5E343B894E381991CBA656E_12</vt:lpwstr>
  </property>
  <property fmtid="{D5CDD505-2E9C-101B-9397-08002B2CF9AE}" pid="3" name="KSOProductBuildVer">
    <vt:lpwstr>1033-12.2.0.23155</vt:lpwstr>
  </property>
</Properties>
</file>