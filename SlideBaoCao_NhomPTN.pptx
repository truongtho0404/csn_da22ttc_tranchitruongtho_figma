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7"/>
  </p:notesMasterIdLst>
  <p:sldIdLst>
    <p:sldId id="272" r:id="rId3"/>
    <p:sldId id="273" r:id="rId4"/>
    <p:sldId id="287" r:id="rId5"/>
    <p:sldId id="289" r:id="rId6"/>
    <p:sldId id="293" r:id="rId7"/>
    <p:sldId id="301" r:id="rId8"/>
    <p:sldId id="308" r:id="rId9"/>
    <p:sldId id="309" r:id="rId10"/>
    <p:sldId id="310" r:id="rId11"/>
    <p:sldId id="311" r:id="rId12"/>
    <p:sldId id="333" r:id="rId13"/>
    <p:sldId id="327" r:id="rId14"/>
    <p:sldId id="328" r:id="rId15"/>
    <p:sldId id="332"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0" userDrawn="1">
          <p15:clr>
            <a:srgbClr val="A4A3A4"/>
          </p15:clr>
        </p15:guide>
        <p15:guide id="2" pos="28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87" d="100"/>
          <a:sy n="87" d="100"/>
        </p:scale>
        <p:origin x="1062" y="66"/>
      </p:cViewPr>
      <p:guideLst>
        <p:guide orient="horz" pos="2170"/>
        <p:guide pos="287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notesMaster" Target="notesMasters/notesMaster1.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B0FA47-8B15-437F-B746-4611B2E50E7E}"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AFC3B5-3211-45B9-A75F-21C4D8AB734F}"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1692275" y="4411663"/>
            <a:ext cx="18669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2282825" y="2293938"/>
            <a:ext cx="6897688"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396875" y="2133600"/>
            <a:ext cx="8423275"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371600" y="3886200"/>
            <a:ext cx="64008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457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5BCAD085-E8A6-8845-BD4E-CB4CCA059FC4}" type="datetimeFigureOut">
              <a:rPr lang="en-US" smtClean="0"/>
            </a:fld>
            <a:endParaRPr lang="en-US"/>
          </a:p>
        </p:txBody>
      </p:sp>
      <p:sp>
        <p:nvSpPr>
          <p:cNvPr id="30" name="Rectangle 1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C1FF6DA9-008F-8B48-92A6-B652298478BF}"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286471"/>
            <a:ext cx="9144000" cy="571529"/>
          </a:xfrm>
          <a:prstGeom prst="rect">
            <a:avLst/>
          </a:prstGeom>
        </p:spPr>
      </p:pic>
      <p:pic>
        <p:nvPicPr>
          <p:cNvPr id="9" name="Picture 8"/>
          <p:cNvPicPr>
            <a:picLocks noChangeAspect="1"/>
          </p:cNvPicPr>
          <p:nvPr userDrawn="1"/>
        </p:nvPicPr>
        <p:blipFill>
          <a:blip r:embed="rId3"/>
          <a:stretch>
            <a:fillRect/>
          </a:stretch>
        </p:blipFill>
        <p:spPr>
          <a:xfrm flipV="1">
            <a:off x="0" y="896533"/>
            <a:ext cx="9144000" cy="89875"/>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C1FF6DA9-008F-8B48-92A6-B652298478BF}"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5262563" y="4076700"/>
            <a:ext cx="1397000"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130425" y="4749800"/>
            <a:ext cx="7013575"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457200" y="274638"/>
            <a:ext cx="82296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457200" y="1600200"/>
            <a:ext cx="82296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5BCAD085-E8A6-8845-BD4E-CB4CCA059FC4}" type="datetimeFigureOut">
              <a:rPr lang="en-US" smtClean="0"/>
            </a:fld>
            <a:endParaRPr lang="en-US"/>
          </a:p>
        </p:txBody>
      </p:sp>
      <p:sp>
        <p:nvSpPr>
          <p:cNvPr id="3" name="Rectangle 1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C1FF6DA9-008F-8B48-92A6-B652298478BF}" type="slidenum">
              <a:rPr lang="en-US" smtClean="0"/>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tags" Target="../tags/tag2.xml"/><Relationship Id="rId1" Type="http://schemas.openxmlformats.org/officeDocument/2006/relationships/tags" Target="../tags/tag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6"/>
          <p:cNvSpPr txBox="1">
            <a:spLocks noGrp="1"/>
          </p:cNvSpPr>
          <p:nvPr>
            <p:ph type="sldNum" sz="quarter" idx="4"/>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eaLnBrk="1" hangingPunct="1"/>
            <a:fld id="{9A0DB2DC-4C9A-4742-B13C-FB6460FD3503}" type="slidenum">
              <a:rPr lang="en-US" altLang="en-US" sz="900" dirty="0">
                <a:solidFill>
                  <a:srgbClr val="FFFFFF"/>
                </a:solidFill>
                <a:cs typeface="Arial" panose="020B0604020202020204" pitchFamily="34" charset="0"/>
              </a:rPr>
            </a:fld>
            <a:endParaRPr lang="en-US" altLang="en-US" sz="900" dirty="0">
              <a:solidFill>
                <a:srgbClr val="FFFFFF"/>
              </a:solidFill>
              <a:cs typeface="Arial" panose="020B0604020202020204" pitchFamily="34" charset="0"/>
            </a:endParaRPr>
          </a:p>
        </p:txBody>
      </p:sp>
      <p:sp>
        <p:nvSpPr>
          <p:cNvPr id="5124" name="AutoShape 13"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5" name="AutoShape 15"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6" name="AutoShape 17"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sp>
        <p:nvSpPr>
          <p:cNvPr id="5127" name="AutoShape 19" descr="Kết quả hình ảnh cho ước lượng"/>
          <p:cNvSpPr>
            <a:spLocks noChangeAspect="1"/>
          </p:cNvSpPr>
          <p:nvPr/>
        </p:nvSpPr>
        <p:spPr>
          <a:xfrm>
            <a:off x="155575" y="-144462"/>
            <a:ext cx="304800" cy="304800"/>
          </a:xfrm>
          <a:prstGeom prst="rect">
            <a:avLst/>
          </a:prstGeom>
          <a:noFill/>
          <a:ln w="9525">
            <a:noFill/>
          </a:ln>
        </p:spPr>
        <p:txBody>
          <a:bodyPr/>
          <a:lstStyle/>
          <a:p>
            <a:pPr eaLnBrk="1" hangingPunct="1"/>
            <a:endParaRPr lang="en-US" altLang="en-US" dirty="0">
              <a:cs typeface="Arial" panose="020B0604020202020204" pitchFamily="34" charset="0"/>
            </a:endParaRPr>
          </a:p>
        </p:txBody>
      </p:sp>
      <p:pic>
        <p:nvPicPr>
          <p:cNvPr id="5128" name="Picture 9"/>
          <p:cNvPicPr>
            <a:picLocks noChangeAspect="1"/>
          </p:cNvPicPr>
          <p:nvPr/>
        </p:nvPicPr>
        <p:blipFill>
          <a:blip r:embed="rId1"/>
          <a:stretch>
            <a:fillRect/>
          </a:stretch>
        </p:blipFill>
        <p:spPr>
          <a:xfrm>
            <a:off x="0" y="6019800"/>
            <a:ext cx="9144000" cy="838200"/>
          </a:xfrm>
          <a:prstGeom prst="rect">
            <a:avLst/>
          </a:prstGeom>
          <a:noFill/>
          <a:ln w="9525">
            <a:noFill/>
          </a:ln>
        </p:spPr>
      </p:pic>
      <p:sp>
        <p:nvSpPr>
          <p:cNvPr id="2" name="Text Box 1"/>
          <p:cNvSpPr txBox="1"/>
          <p:nvPr/>
        </p:nvSpPr>
        <p:spPr>
          <a:xfrm>
            <a:off x="247227" y="89744"/>
            <a:ext cx="8534400" cy="3108543"/>
          </a:xfrm>
          <a:prstGeom prst="rect">
            <a:avLst/>
          </a:prstGeom>
          <a:noFill/>
        </p:spPr>
        <p:txBody>
          <a:bodyPr wrap="square" rtlCol="0" anchor="t">
            <a:spAutoFit/>
          </a:bodyPr>
          <a:lstStyle/>
          <a:p>
            <a:pPr algn="ctr"/>
            <a:r>
              <a:rPr lang="vi-VN" altLang="en-US" sz="2800" b="1" dirty="0">
                <a:effectLst/>
                <a:cs typeface="Arial" panose="020B0604020202020204" pitchFamily="34" charset="0"/>
                <a:sym typeface="+mn-ea"/>
              </a:rPr>
              <a:t> BÁO CÁO ĐỒ ÁN MÔN HỌC</a:t>
            </a:r>
            <a:endParaRPr lang="vi-VN" altLang="en-US" sz="2800" b="1" dirty="0">
              <a:effectLst/>
              <a:cs typeface="Arial" panose="020B0604020202020204" pitchFamily="34" charset="0"/>
              <a:sym typeface="+mn-ea"/>
            </a:endParaRPr>
          </a:p>
          <a:p>
            <a:pPr algn="ctr"/>
            <a:endParaRPr lang="en-US" altLang="en-US" sz="2800" b="1" dirty="0">
              <a:effectLst>
                <a:outerShdw blurRad="38100" dist="19050" dir="2700000" algn="tl" rotWithShape="0">
                  <a:schemeClr val="dk1">
                    <a:alpha val="40000"/>
                    <a:alpha val="40000"/>
                  </a:schemeClr>
                </a:outerShdw>
              </a:effectLst>
              <a:cs typeface="Arial" panose="020B0604020202020204" pitchFamily="34" charset="0"/>
              <a:sym typeface="+mn-ea"/>
            </a:endParaRPr>
          </a:p>
          <a:p>
            <a:pPr algn="ctr"/>
            <a:endParaRPr lang="en-US" altLang="en-US" sz="2800" b="1" dirty="0">
              <a:effectLst>
                <a:outerShdw blurRad="38100" dist="19050" dir="2700000" algn="tl" rotWithShape="0">
                  <a:schemeClr val="dk1">
                    <a:alpha val="40000"/>
                    <a:alpha val="40000"/>
                  </a:schemeClr>
                </a:outerShdw>
              </a:effectLst>
              <a:cs typeface="Arial" panose="020B0604020202020204" pitchFamily="34" charset="0"/>
              <a:sym typeface="+mn-ea"/>
            </a:endParaRPr>
          </a:p>
          <a:p>
            <a:pPr algn="ctr"/>
            <a:endParaRPr lang="en-US" altLang="en-US" sz="2800" b="1" dirty="0">
              <a:effectLst>
                <a:outerShdw blurRad="38100" dist="19050" dir="2700000" algn="tl" rotWithShape="0">
                  <a:schemeClr val="dk1">
                    <a:alpha val="40000"/>
                    <a:alpha val="40000"/>
                  </a:schemeClr>
                </a:outerShdw>
              </a:effectLst>
              <a:cs typeface="Arial" panose="020B0604020202020204" pitchFamily="34" charset="0"/>
              <a:sym typeface="+mn-ea"/>
            </a:endParaRPr>
          </a:p>
          <a:p>
            <a:pPr algn="ctr"/>
            <a:r>
              <a:rPr lang="vi-VN" altLang="en-US" sz="2800" b="1" dirty="0">
                <a:effectLst>
                  <a:outerShdw blurRad="38100" dist="19050" dir="2700000" algn="tl" rotWithShape="0">
                    <a:schemeClr val="dk1">
                      <a:alpha val="40000"/>
                      <a:alpha val="40000"/>
                    </a:schemeClr>
                  </a:outerShdw>
                </a:effectLst>
                <a:cs typeface="Arial" panose="020B0604020202020204" pitchFamily="34" charset="0"/>
                <a:sym typeface="+mn-ea"/>
              </a:rPr>
              <a:t>  Học phần:</a:t>
            </a:r>
            <a:endParaRPr lang="vi-VN" altLang="en-US" sz="2800" b="1" dirty="0">
              <a:solidFill>
                <a:schemeClr val="tx1"/>
              </a:solidFill>
              <a:effectLst>
                <a:outerShdw blurRad="38100" dist="19050" dir="2700000" algn="tl" rotWithShape="0">
                  <a:schemeClr val="dk1">
                    <a:alpha val="40000"/>
                    <a:alpha val="40000"/>
                  </a:schemeClr>
                </a:outerShdw>
              </a:effectLst>
              <a:cs typeface="Arial" panose="020B0604020202020204" pitchFamily="34" charset="0"/>
            </a:endParaRPr>
          </a:p>
          <a:p>
            <a:pPr algn="ctr"/>
            <a:r>
              <a:rPr lang="vi-VN" altLang="en-US" sz="2800" dirty="0">
                <a:effectLst>
                  <a:outerShdw blurRad="38100" dist="19050" dir="2700000" algn="tl" rotWithShape="0">
                    <a:schemeClr val="dk1">
                      <a:alpha val="40000"/>
                      <a:alpha val="40000"/>
                    </a:schemeClr>
                  </a:outerShdw>
                </a:effectLst>
                <a:cs typeface="Arial" panose="020B0604020202020204" pitchFamily="34" charset="0"/>
                <a:sym typeface="+mn-ea"/>
              </a:rPr>
              <a:t>      “ Tương tác người - máy”</a:t>
            </a:r>
            <a:endParaRPr lang="vi-VN" altLang="en-US" sz="2800" dirty="0">
              <a:effectLst>
                <a:outerShdw blurRad="38100" dist="19050" dir="2700000" algn="tl" rotWithShape="0">
                  <a:schemeClr val="dk1">
                    <a:alpha val="40000"/>
                    <a:alpha val="40000"/>
                  </a:schemeClr>
                </a:outerShdw>
              </a:effectLst>
              <a:cs typeface="Arial" panose="020B0604020202020204" pitchFamily="34" charset="0"/>
              <a:sym typeface="+mn-ea"/>
            </a:endParaRPr>
          </a:p>
          <a:p>
            <a:pPr algn="ctr"/>
            <a:r>
              <a:rPr lang="vi-VN" altLang="en-US" sz="2800" b="1" dirty="0">
                <a:effectLst>
                  <a:outerShdw blurRad="38100" dist="19050" dir="2700000" algn="tl" rotWithShape="0">
                    <a:schemeClr val="dk1">
                      <a:alpha val="40000"/>
                      <a:alpha val="40000"/>
                    </a:schemeClr>
                  </a:outerShdw>
                </a:effectLst>
                <a:cs typeface="Arial" panose="020B0604020202020204" pitchFamily="34" charset="0"/>
                <a:sym typeface="+mn-ea"/>
              </a:rPr>
              <a:t>Đề tài</a:t>
            </a:r>
            <a:r>
              <a:rPr lang="vi-VN" altLang="en-US" sz="2800" dirty="0">
                <a:effectLst>
                  <a:outerShdw blurRad="38100" dist="19050" dir="2700000" algn="tl" rotWithShape="0">
                    <a:schemeClr val="dk1">
                      <a:alpha val="40000"/>
                      <a:alpha val="40000"/>
                    </a:schemeClr>
                  </a:outerShdw>
                </a:effectLst>
                <a:cs typeface="Arial" panose="020B0604020202020204" pitchFamily="34" charset="0"/>
                <a:sym typeface="+mn-ea"/>
              </a:rPr>
              <a:t>: </a:t>
            </a:r>
            <a:r>
              <a:rPr lang="en-US" altLang="en-US" sz="2800" dirty="0">
                <a:effectLst>
                  <a:outerShdw blurRad="38100" dist="19050" dir="2700000" algn="tl" rotWithShape="0">
                    <a:schemeClr val="dk1">
                      <a:alpha val="40000"/>
                      <a:alpha val="40000"/>
                    </a:schemeClr>
                  </a:outerShdw>
                </a:effectLst>
                <a:cs typeface="Arial" panose="020B0604020202020204" pitchFamily="34" charset="0"/>
                <a:sym typeface="+mn-ea"/>
              </a:rPr>
              <a:t>TRỢ LÝ </a:t>
            </a:r>
            <a:r>
              <a:rPr lang="en-US" altLang="en-US" sz="2800">
                <a:effectLst>
                  <a:outerShdw blurRad="38100" dist="19050" dir="2700000" algn="tl" rotWithShape="0">
                    <a:schemeClr val="dk1">
                      <a:alpha val="40000"/>
                      <a:alpha val="40000"/>
                    </a:schemeClr>
                  </a:outerShdw>
                </a:effectLst>
                <a:cs typeface="Arial" panose="020B0604020202020204" pitchFamily="34" charset="0"/>
                <a:sym typeface="+mn-ea"/>
              </a:rPr>
              <a:t>AI </a:t>
            </a:r>
            <a:r>
              <a:rPr lang="en-US" altLang="en-US" sz="2800" smtClean="0">
                <a:effectLst>
                  <a:outerShdw blurRad="38100" dist="19050" dir="2700000" algn="tl" rotWithShape="0">
                    <a:schemeClr val="dk1">
                      <a:alpha val="40000"/>
                      <a:alpha val="40000"/>
                    </a:schemeClr>
                  </a:outerShdw>
                </a:effectLst>
                <a:cs typeface="Arial" panose="020B0604020202020204" pitchFamily="34" charset="0"/>
                <a:sym typeface="+mn-ea"/>
              </a:rPr>
              <a:t>CHO HỌC SINH THPT </a:t>
            </a:r>
            <a:r>
              <a:rPr lang="en-US" altLang="en-US" sz="2800" dirty="0">
                <a:effectLst>
                  <a:outerShdw blurRad="38100" dist="19050" dir="2700000" algn="tl" rotWithShape="0">
                    <a:schemeClr val="dk1">
                      <a:alpha val="40000"/>
                      <a:alpha val="40000"/>
                    </a:schemeClr>
                  </a:outerShdw>
                </a:effectLst>
                <a:cs typeface="Arial" panose="020B0604020202020204" pitchFamily="34" charset="0"/>
                <a:sym typeface="+mn-ea"/>
              </a:rPr>
              <a:t>HỌC TIẾNG ANH</a:t>
            </a:r>
            <a:endParaRPr lang="vi-VN" altLang="en-US" sz="2800" dirty="0">
              <a:effectLst>
                <a:outerShdw blurRad="38100" dist="19050" dir="2700000" algn="tl" rotWithShape="0">
                  <a:schemeClr val="dk1">
                    <a:alpha val="40000"/>
                    <a:alpha val="40000"/>
                  </a:schemeClr>
                </a:outerShdw>
              </a:effectLst>
              <a:cs typeface="Arial" panose="020B0604020202020204" pitchFamily="34" charset="0"/>
              <a:sym typeface="+mn-ea"/>
            </a:endParaRPr>
          </a:p>
        </p:txBody>
      </p:sp>
      <p:sp>
        <p:nvSpPr>
          <p:cNvPr id="5" name="Text Box 4"/>
          <p:cNvSpPr txBox="1"/>
          <p:nvPr/>
        </p:nvSpPr>
        <p:spPr>
          <a:xfrm>
            <a:off x="5646102" y="4230588"/>
            <a:ext cx="3947795" cy="2308324"/>
          </a:xfrm>
          <a:prstGeom prst="rect">
            <a:avLst/>
          </a:prstGeom>
          <a:noFill/>
        </p:spPr>
        <p:txBody>
          <a:bodyPr wrap="square" rtlCol="0" anchor="t">
            <a:spAutoFit/>
          </a:bodyPr>
          <a:lstStyle/>
          <a:p>
            <a:pPr algn="l"/>
            <a:r>
              <a:rPr lang="en-US" altLang="en-US" sz="1800" b="1" dirty="0">
                <a:cs typeface="Arial" panose="020B0604020202020204" pitchFamily="34" charset="0"/>
                <a:sym typeface="+mn-ea"/>
              </a:rPr>
              <a:t>Họ tên</a:t>
            </a:r>
            <a:r>
              <a:rPr lang="en-US" altLang="en-US" sz="1800" b="1">
                <a:cs typeface="Arial" panose="020B0604020202020204" pitchFamily="34" charset="0"/>
                <a:sym typeface="+mn-ea"/>
              </a:rPr>
              <a:t>:</a:t>
            </a:r>
            <a:r>
              <a:rPr lang="en-US" altLang="en-US" sz="1800">
                <a:cs typeface="Arial" panose="020B0604020202020204" pitchFamily="34" charset="0"/>
                <a:sym typeface="+mn-ea"/>
              </a:rPr>
              <a:t> </a:t>
            </a:r>
            <a:r>
              <a:rPr lang="en-US" altLang="en-US" smtClean="0">
                <a:cs typeface="Arial" panose="020B0604020202020204" pitchFamily="34" charset="0"/>
                <a:sym typeface="+mn-ea"/>
              </a:rPr>
              <a:t>Đặng Hoàng Phước</a:t>
            </a:r>
            <a:endParaRPr lang="en-US" altLang="en-US" sz="1800" dirty="0">
              <a:cs typeface="Arial" panose="020B0604020202020204" pitchFamily="34" charset="0"/>
              <a:sym typeface="+mn-ea"/>
            </a:endParaRPr>
          </a:p>
          <a:p>
            <a:pPr algn="l"/>
            <a:r>
              <a:rPr lang="en-US" altLang="en-US" sz="1800" dirty="0">
                <a:cs typeface="Arial" panose="020B0604020202020204" pitchFamily="34" charset="0"/>
                <a:sym typeface="+mn-ea"/>
              </a:rPr>
              <a:t>MSSV</a:t>
            </a:r>
            <a:r>
              <a:rPr lang="en-US" altLang="en-US" sz="1800">
                <a:cs typeface="Arial" panose="020B0604020202020204" pitchFamily="34" charset="0"/>
                <a:sym typeface="+mn-ea"/>
              </a:rPr>
              <a:t>: </a:t>
            </a:r>
            <a:r>
              <a:rPr lang="en-US" altLang="en-US" sz="1800" smtClean="0">
                <a:cs typeface="Arial" panose="020B0604020202020204" pitchFamily="34" charset="0"/>
                <a:sym typeface="+mn-ea"/>
              </a:rPr>
              <a:t>110122</a:t>
            </a:r>
            <a:r>
              <a:rPr lang="en-US" altLang="en-US" smtClean="0">
                <a:cs typeface="Arial" panose="020B0604020202020204" pitchFamily="34" charset="0"/>
                <a:sym typeface="+mn-ea"/>
              </a:rPr>
              <a:t>239</a:t>
            </a:r>
            <a:endParaRPr lang="en-US" altLang="en-US" sz="1800" dirty="0">
              <a:cs typeface="Arial" panose="020B0604020202020204" pitchFamily="34" charset="0"/>
              <a:sym typeface="+mn-ea"/>
            </a:endParaRPr>
          </a:p>
          <a:p>
            <a:pPr algn="l"/>
            <a:r>
              <a:rPr lang="en-US" altLang="en-US" sz="1800" b="1" dirty="0">
                <a:cs typeface="Arial" panose="020B0604020202020204" pitchFamily="34" charset="0"/>
                <a:sym typeface="+mn-ea"/>
              </a:rPr>
              <a:t>Họ tên</a:t>
            </a:r>
            <a:r>
              <a:rPr lang="en-US" altLang="en-US" sz="1800" b="1">
                <a:cs typeface="Arial" panose="020B0604020202020204" pitchFamily="34" charset="0"/>
                <a:sym typeface="+mn-ea"/>
              </a:rPr>
              <a:t>:</a:t>
            </a:r>
            <a:r>
              <a:rPr lang="en-US" altLang="en-US" sz="1800">
                <a:cs typeface="Arial" panose="020B0604020202020204" pitchFamily="34" charset="0"/>
                <a:sym typeface="+mn-ea"/>
              </a:rPr>
              <a:t> </a:t>
            </a:r>
            <a:r>
              <a:rPr lang="en-US" altLang="en-US" smtClean="0">
                <a:cs typeface="Arial" panose="020B0604020202020204" pitchFamily="34" charset="0"/>
                <a:sym typeface="+mn-ea"/>
              </a:rPr>
              <a:t>Trần Chí Trường Thọ</a:t>
            </a:r>
            <a:endParaRPr lang="en-US" altLang="en-US" sz="1800" dirty="0">
              <a:cs typeface="Arial" panose="020B0604020202020204" pitchFamily="34" charset="0"/>
              <a:sym typeface="+mn-ea"/>
            </a:endParaRPr>
          </a:p>
          <a:p>
            <a:pPr algn="l"/>
            <a:r>
              <a:rPr lang="en-US" altLang="en-US" sz="1800" dirty="0">
                <a:cs typeface="Arial" panose="020B0604020202020204" pitchFamily="34" charset="0"/>
                <a:sym typeface="+mn-ea"/>
              </a:rPr>
              <a:t>MSSV</a:t>
            </a:r>
            <a:r>
              <a:rPr lang="en-US" altLang="en-US" sz="1800">
                <a:cs typeface="Arial" panose="020B0604020202020204" pitchFamily="34" charset="0"/>
                <a:sym typeface="+mn-ea"/>
              </a:rPr>
              <a:t>: </a:t>
            </a:r>
            <a:r>
              <a:rPr lang="en-US" altLang="en-US" sz="1800" smtClean="0">
                <a:cs typeface="Arial" panose="020B0604020202020204" pitchFamily="34" charset="0"/>
                <a:sym typeface="+mn-ea"/>
              </a:rPr>
              <a:t>110122170</a:t>
            </a:r>
            <a:endParaRPr lang="en-US" altLang="en-US" sz="1800" smtClean="0">
              <a:cs typeface="Arial" panose="020B0604020202020204" pitchFamily="34" charset="0"/>
              <a:sym typeface="+mn-ea"/>
            </a:endParaRPr>
          </a:p>
          <a:p>
            <a:r>
              <a:rPr lang="en-US" altLang="en-US" b="1">
                <a:cs typeface="Arial" panose="020B0604020202020204" pitchFamily="34" charset="0"/>
                <a:sym typeface="+mn-ea"/>
              </a:rPr>
              <a:t>Họ tên</a:t>
            </a:r>
            <a:r>
              <a:rPr lang="en-US" altLang="en-US" b="1">
                <a:cs typeface="Arial" panose="020B0604020202020204" pitchFamily="34" charset="0"/>
                <a:sym typeface="+mn-ea"/>
              </a:rPr>
              <a:t>:</a:t>
            </a:r>
            <a:r>
              <a:rPr lang="en-US" altLang="en-US">
                <a:cs typeface="Arial" panose="020B0604020202020204" pitchFamily="34" charset="0"/>
                <a:sym typeface="+mn-ea"/>
              </a:rPr>
              <a:t> </a:t>
            </a:r>
            <a:r>
              <a:rPr lang="en-US" altLang="en-US" smtClean="0">
                <a:cs typeface="Arial" panose="020B0604020202020204" pitchFamily="34" charset="0"/>
                <a:sym typeface="+mn-ea"/>
              </a:rPr>
              <a:t>Nguyễn Khắc Nguyên</a:t>
            </a:r>
            <a:endParaRPr lang="en-US" altLang="en-US">
              <a:cs typeface="Arial" panose="020B0604020202020204" pitchFamily="34" charset="0"/>
              <a:sym typeface="+mn-ea"/>
            </a:endParaRPr>
          </a:p>
          <a:p>
            <a:r>
              <a:rPr lang="en-US" altLang="en-US">
                <a:cs typeface="Arial" panose="020B0604020202020204" pitchFamily="34" charset="0"/>
                <a:sym typeface="+mn-ea"/>
              </a:rPr>
              <a:t>MSSV</a:t>
            </a:r>
            <a:r>
              <a:rPr lang="en-US" altLang="en-US">
                <a:cs typeface="Arial" panose="020B0604020202020204" pitchFamily="34" charset="0"/>
                <a:sym typeface="+mn-ea"/>
              </a:rPr>
              <a:t>: </a:t>
            </a:r>
            <a:r>
              <a:rPr lang="en-US" altLang="en-US" smtClean="0">
                <a:cs typeface="Arial" panose="020B0604020202020204" pitchFamily="34" charset="0"/>
                <a:sym typeface="+mn-ea"/>
              </a:rPr>
              <a:t>110122233</a:t>
            </a:r>
            <a:endParaRPr lang="en-US" altLang="en-US">
              <a:cs typeface="Arial" panose="020B0604020202020204" pitchFamily="34" charset="0"/>
              <a:sym typeface="+mn-ea"/>
            </a:endParaRPr>
          </a:p>
          <a:p>
            <a:pPr algn="l"/>
            <a:endParaRPr lang="en-US" altLang="en-US" sz="1800" dirty="0">
              <a:cs typeface="Arial" panose="020B0604020202020204" pitchFamily="34" charset="0"/>
              <a:sym typeface="+mn-ea"/>
            </a:endParaRPr>
          </a:p>
          <a:p>
            <a:pPr algn="r"/>
            <a:r>
              <a:rPr lang="vi-VN" altLang="en-US" sz="1800" dirty="0">
                <a:cs typeface="Arial" panose="020B0604020202020204" pitchFamily="34" charset="0"/>
                <a:sym typeface="+mn-ea"/>
              </a:rPr>
              <a:t> </a:t>
            </a:r>
            <a:endParaRPr lang="vi-VN" altLang="en-US" sz="1800" dirty="0">
              <a:cs typeface="Arial" panose="020B0604020202020204" pitchFamily="34" charset="0"/>
              <a:sym typeface="+mn-ea"/>
            </a:endParaRPr>
          </a:p>
        </p:txBody>
      </p:sp>
      <p:pic>
        <p:nvPicPr>
          <p:cNvPr id="6" name="Picture 5"/>
          <p:cNvPicPr/>
          <p:nvPr/>
        </p:nvPicPr>
        <p:blipFill>
          <a:blip r:embed="rId2">
            <a:alphaModFix amt="40000"/>
            <a:lum bright="42000" contrast="-12000"/>
          </a:blip>
          <a:stretch>
            <a:fillRect/>
          </a:stretch>
        </p:blipFill>
        <p:spPr>
          <a:xfrm>
            <a:off x="851482" y="-34666"/>
            <a:ext cx="7699375" cy="5848985"/>
          </a:xfrm>
          <a:prstGeom prst="rect">
            <a:avLst/>
          </a:prstGeom>
        </p:spPr>
      </p:pic>
      <p:sp>
        <p:nvSpPr>
          <p:cNvPr id="3" name="Text Box 2"/>
          <p:cNvSpPr txBox="1"/>
          <p:nvPr/>
        </p:nvSpPr>
        <p:spPr>
          <a:xfrm>
            <a:off x="520277" y="4286463"/>
            <a:ext cx="3235960" cy="645160"/>
          </a:xfrm>
          <a:prstGeom prst="rect">
            <a:avLst/>
          </a:prstGeom>
          <a:noFill/>
        </p:spPr>
        <p:txBody>
          <a:bodyPr wrap="square" rtlCol="0">
            <a:spAutoFit/>
          </a:bodyPr>
          <a:lstStyle/>
          <a:p>
            <a:r>
              <a:rPr lang="vi-VN" altLang="en-US" b="1" dirty="0">
                <a:cs typeface="Arial" panose="020B0604020202020204" pitchFamily="34" charset="0"/>
                <a:sym typeface="+mn-ea"/>
              </a:rPr>
              <a:t>Giảng viên hướng dẫn:</a:t>
            </a:r>
            <a:r>
              <a:rPr lang="vi-VN" altLang="en-US" dirty="0">
                <a:cs typeface="Arial" panose="020B0604020202020204" pitchFamily="34" charset="0"/>
                <a:sym typeface="+mn-ea"/>
              </a:rPr>
              <a:t> </a:t>
            </a:r>
            <a:endParaRPr lang="vi-VN" altLang="en-US" dirty="0">
              <a:cs typeface="Arial" panose="020B0604020202020204" pitchFamily="34" charset="0"/>
              <a:sym typeface="+mn-ea"/>
            </a:endParaRPr>
          </a:p>
          <a:p>
            <a:r>
              <a:rPr lang="vi-VN" altLang="en-US" dirty="0">
                <a:cs typeface="Arial" panose="020B0604020202020204" pitchFamily="34" charset="0"/>
                <a:sym typeface="+mn-ea"/>
              </a:rPr>
              <a:t>TS. Thạch Kọng Saoane</a:t>
            </a:r>
            <a:endParaRPr lang="vi-VN" altLang="en-US" dirty="0">
              <a:cs typeface="Arial" panose="020B0604020202020204" pitchFamily="34"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vi-VN" altLang="en-US" dirty="0"/>
              <a:t>CHƯƠNG I: GIỚI THIỆU</a:t>
            </a:r>
            <a:endParaRPr lang="vi-VN" altLang="en-US" dirty="0"/>
          </a:p>
        </p:txBody>
      </p:sp>
      <p:sp>
        <p:nvSpPr>
          <p:cNvPr id="4" name="Text Box 3"/>
          <p:cNvSpPr txBox="1"/>
          <p:nvPr/>
        </p:nvSpPr>
        <p:spPr>
          <a:xfrm>
            <a:off x="149225" y="1104900"/>
            <a:ext cx="4191000" cy="2514600"/>
          </a:xfrm>
          <a:prstGeom prst="rect">
            <a:avLst/>
          </a:prstGeom>
          <a:ln>
            <a:solidFill>
              <a:schemeClr val="tx1"/>
            </a:solidFill>
          </a:ln>
        </p:spPr>
        <p:txBody>
          <a:bodyPr wrap="square">
            <a:noAutofit/>
          </a:bodyPr>
          <a:lstStyle/>
          <a:p>
            <a:r>
              <a:rPr sz="1600" b="1" dirty="0">
                <a:latin typeface="Times New Roman" panose="02020603050405020304" pitchFamily="18" charset="0"/>
                <a:cs typeface="Times New Roman" panose="02020603050405020304" pitchFamily="18" charset="0"/>
              </a:rPr>
              <a:t>1.1. </a:t>
            </a:r>
            <a:r>
              <a:rPr sz="1600" b="1" dirty="0" err="1">
                <a:latin typeface="Times New Roman" panose="02020603050405020304" pitchFamily="18" charset="0"/>
                <a:cs typeface="Times New Roman" panose="02020603050405020304" pitchFamily="18" charset="0"/>
              </a:rPr>
              <a:t>Bối</a:t>
            </a:r>
            <a:r>
              <a:rPr sz="1600" b="1" dirty="0">
                <a:latin typeface="Times New Roman" panose="02020603050405020304" pitchFamily="18" charset="0"/>
                <a:cs typeface="Times New Roman" panose="02020603050405020304" pitchFamily="18" charset="0"/>
              </a:rPr>
              <a:t> </a:t>
            </a:r>
            <a:r>
              <a:rPr sz="1600" b="1" dirty="0" err="1">
                <a:latin typeface="Times New Roman" panose="02020603050405020304" pitchFamily="18" charset="0"/>
                <a:cs typeface="Times New Roman" panose="02020603050405020304" pitchFamily="18" charset="0"/>
              </a:rPr>
              <a:t>cảnh</a:t>
            </a:r>
            <a:r>
              <a:rPr sz="1600" b="1" dirty="0">
                <a:latin typeface="Times New Roman" panose="02020603050405020304" pitchFamily="18" charset="0"/>
                <a:cs typeface="Times New Roman" panose="02020603050405020304" pitchFamily="18" charset="0"/>
              </a:rPr>
              <a:t>:</a:t>
            </a:r>
            <a:endParaRPr sz="1600" b="1" dirty="0">
              <a:latin typeface="Times New Roman" panose="02020603050405020304" pitchFamily="18" charset="0"/>
              <a:cs typeface="Times New Roman" panose="02020603050405020304" pitchFamily="18" charset="0"/>
            </a:endParaRPr>
          </a:p>
          <a:p>
            <a:pPr algn="just"/>
            <a:r>
              <a:rPr sz="1600" dirty="0">
                <a:latin typeface="+mj-lt"/>
              </a:rPr>
              <a:t> </a:t>
            </a:r>
            <a:r>
              <a:rPr lang="vi-VN" sz="1600" dirty="0">
                <a:latin typeface="+mj-lt"/>
              </a:rPr>
              <a:t>	</a:t>
            </a:r>
            <a:r>
              <a:rPr lang="en-US" altLang="en-US" sz="1600" dirty="0">
                <a:latin typeface="Times New Roman" panose="02020603050405020304" pitchFamily="18" charset="0"/>
                <a:cs typeface="Times New Roman" panose="02020603050405020304" pitchFamily="18" charset="0"/>
              </a:rPr>
              <a:t>Trong bối cảnh giáo dục chuyển dịch mạnh mẽ sang học tập kết hợp công nghệ, học sinh THPT vẫn gặp nhiều khó kh</a:t>
            </a:r>
            <a:r>
              <a:rPr lang="" altLang="en-US" sz="1600" dirty="0">
                <a:latin typeface="Times New Roman" panose="02020603050405020304" pitchFamily="18" charset="0"/>
                <a:cs typeface="Times New Roman" panose="02020603050405020304" pitchFamily="18" charset="0"/>
              </a:rPr>
              <a:t>ă</a:t>
            </a:r>
            <a:r>
              <a:rPr lang="en-US" altLang="en-US" sz="1600" dirty="0">
                <a:latin typeface="Times New Roman" panose="02020603050405020304" pitchFamily="18" charset="0"/>
                <a:cs typeface="Times New Roman" panose="02020603050405020304" pitchFamily="18" charset="0"/>
              </a:rPr>
              <a:t>n khi học tiếng Anh nh</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 phát âm ch</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a chuẩn, vốn từ hạn chế, khó duy trì thói quen học và thiếu môi tr</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ờng luyện tập giao tiếp. Vì vậy, việc xây dựng một trợ l</a:t>
            </a:r>
            <a:r>
              <a:rPr lang="" altLang="en-US" sz="1600" dirty="0">
                <a:latin typeface="Times New Roman" panose="02020603050405020304" pitchFamily="18" charset="0"/>
                <a:cs typeface="Times New Roman" panose="02020603050405020304" pitchFamily="18" charset="0"/>
              </a:rPr>
              <a:t>ý</a:t>
            </a:r>
            <a:r>
              <a:rPr lang="en-US" altLang="en-US" sz="1600" dirty="0">
                <a:latin typeface="Times New Roman" panose="02020603050405020304" pitchFamily="18" charset="0"/>
                <a:cs typeface="Times New Roman" panose="02020603050405020304" pitchFamily="18" charset="0"/>
              </a:rPr>
              <a:t> AI hỗ trợ học tập cá nhân hóa, trực quan và mang tính t</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ơng tác cao là </a:t>
            </a:r>
            <a:r>
              <a:rPr lang="en-US" sz="1600" dirty="0">
                <a:latin typeface="Times New Roman" panose="02020603050405020304" pitchFamily="18" charset="0"/>
                <a:cs typeface="Times New Roman" panose="02020603050405020304" pitchFamily="18" charset="0"/>
              </a:rPr>
              <a:t>rất cần thiết</a:t>
            </a:r>
            <a:endParaRPr lang="en-US" sz="1600" dirty="0">
              <a:latin typeface="Times New Roman" panose="02020603050405020304" pitchFamily="18" charset="0"/>
              <a:cs typeface="Times New Roman" panose="02020603050405020304" pitchFamily="18" charset="0"/>
            </a:endParaRPr>
          </a:p>
        </p:txBody>
      </p:sp>
      <p:sp>
        <p:nvSpPr>
          <p:cNvPr id="6" name="Text Box 5"/>
          <p:cNvSpPr txBox="1"/>
          <p:nvPr/>
        </p:nvSpPr>
        <p:spPr>
          <a:xfrm>
            <a:off x="4684395" y="1104900"/>
            <a:ext cx="4310380" cy="2786380"/>
          </a:xfrm>
          <a:prstGeom prst="rect">
            <a:avLst/>
          </a:prstGeom>
          <a:ln>
            <a:solidFill>
              <a:schemeClr val="tx1"/>
            </a:solidFill>
          </a:ln>
        </p:spPr>
        <p:txBody>
          <a:bodyPr wrap="square">
            <a:noAutofit/>
          </a:bodyPr>
          <a:lstStyle/>
          <a:p>
            <a:r>
              <a:rPr lang="en-US" sz="1600" b="1" dirty="0">
                <a:latin typeface="Times New Roman" panose="02020603050405020304" pitchFamily="18" charset="0"/>
                <a:cs typeface="Times New Roman" panose="02020603050405020304" pitchFamily="18" charset="0"/>
              </a:rPr>
              <a:t>1.2 Lý do </a:t>
            </a:r>
            <a:r>
              <a:rPr lang="en-US" sz="1600" b="1" dirty="0" err="1">
                <a:latin typeface="Times New Roman" panose="02020603050405020304" pitchFamily="18" charset="0"/>
                <a:cs typeface="Times New Roman" panose="02020603050405020304" pitchFamily="18" charset="0"/>
              </a:rPr>
              <a:t>chọn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đề</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Trong những n</a:t>
            </a:r>
            <a:r>
              <a:rPr lang="" altLang="en-US" sz="1600" dirty="0">
                <a:latin typeface="Times New Roman" panose="02020603050405020304" pitchFamily="18" charset="0"/>
                <a:cs typeface="Times New Roman" panose="02020603050405020304" pitchFamily="18" charset="0"/>
              </a:rPr>
              <a:t>ă</a:t>
            </a:r>
            <a:r>
              <a:rPr lang="en-US" altLang="en-US" sz="1600" dirty="0">
                <a:latin typeface="Times New Roman" panose="02020603050405020304" pitchFamily="18" charset="0"/>
                <a:cs typeface="Times New Roman" panose="02020603050405020304" pitchFamily="18" charset="0"/>
              </a:rPr>
              <a:t>m gần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ây, nhu cầu học tiếng Anh của học sinh THPT t</a:t>
            </a:r>
            <a:r>
              <a:rPr lang="" altLang="en-US" sz="1600" dirty="0">
                <a:latin typeface="Times New Roman" panose="02020603050405020304" pitchFamily="18" charset="0"/>
                <a:cs typeface="Times New Roman" panose="02020603050405020304" pitchFamily="18" charset="0"/>
              </a:rPr>
              <a:t>ă</a:t>
            </a:r>
            <a:r>
              <a:rPr lang="en-US" altLang="en-US" sz="1600" dirty="0">
                <a:latin typeface="Times New Roman" panose="02020603050405020304" pitchFamily="18" charset="0"/>
                <a:cs typeface="Times New Roman" panose="02020603050405020304" pitchFamily="18" charset="0"/>
              </a:rPr>
              <a:t>ng mạnh tr</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ớc yêu cầu thi cử, hội nhập và sự phát triển của công nghệ số. Tuy nhiên, nhiều nền tảng học tập hiện nay </a:t>
            </a:r>
            <a:r>
              <a:rPr lang="" altLang="en-US" sz="1600" dirty="0">
                <a:latin typeface="Times New Roman" panose="02020603050405020304" pitchFamily="18" charset="0"/>
                <a:cs typeface="Times New Roman" panose="02020603050405020304" pitchFamily="18" charset="0"/>
              </a:rPr>
              <a:t>đư</a:t>
            </a:r>
            <a:r>
              <a:rPr lang="en-US" altLang="en-US" sz="1600" dirty="0">
                <a:latin typeface="Times New Roman" panose="02020603050405020304" pitchFamily="18" charset="0"/>
                <a:cs typeface="Times New Roman" panose="02020603050405020304" pitchFamily="18" charset="0"/>
              </a:rPr>
              <a:t>ợc thiết kế chung cho mọi lứa tuổi, ch</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a tối </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u cho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ặc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iểm tâm l</a:t>
            </a:r>
            <a:r>
              <a:rPr lang="" altLang="en-US" sz="1600" dirty="0">
                <a:latin typeface="Times New Roman" panose="02020603050405020304" pitchFamily="18" charset="0"/>
                <a:cs typeface="Times New Roman" panose="02020603050405020304" pitchFamily="18" charset="0"/>
              </a:rPr>
              <a:t>ý</a:t>
            </a:r>
            <a:r>
              <a:rPr lang="en-US" altLang="en-US" sz="1600" dirty="0">
                <a:latin typeface="Times New Roman" panose="02020603050405020304" pitchFamily="18" charset="0"/>
                <a:cs typeface="Times New Roman" panose="02020603050405020304" pitchFamily="18" charset="0"/>
              </a:rPr>
              <a:t> và ch</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ơng trình học của học sinh THPT.</a:t>
            </a:r>
            <a:r>
              <a:rPr lang="en-US" altLang="en-US" sz="1600" dirty="0">
                <a:latin typeface="Times New Roman" panose="02020603050405020304" pitchFamily="18" charset="0"/>
                <a:cs typeface="Times New Roman" panose="02020603050405020304" pitchFamily="18" charset="0"/>
              </a:rPr>
              <a:t> </a:t>
            </a:r>
            <a:endParaRPr lang="en-US" altLang="en-US" sz="1600" dirty="0">
              <a:latin typeface="Times New Roman" panose="02020603050405020304" pitchFamily="18" charset="0"/>
              <a:cs typeface="Times New Roman" panose="02020603050405020304" pitchFamily="18" charset="0"/>
            </a:endParaRPr>
          </a:p>
          <a:p>
            <a:pPr indent="457200" algn="just"/>
            <a:r>
              <a:rPr lang="en-US" altLang="en-US" sz="1600" dirty="0">
                <a:latin typeface="Times New Roman" panose="02020603050405020304" pitchFamily="18" charset="0"/>
                <a:cs typeface="Times New Roman" panose="02020603050405020304" pitchFamily="18" charset="0"/>
              </a:rPr>
              <a:t>Vì vậy, nhóm chọn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ề tài xây dựng Trợ l</a:t>
            </a:r>
            <a:r>
              <a:rPr lang="" altLang="en-US" sz="1600" dirty="0">
                <a:latin typeface="Times New Roman" panose="02020603050405020304" pitchFamily="18" charset="0"/>
                <a:cs typeface="Times New Roman" panose="02020603050405020304" pitchFamily="18" charset="0"/>
              </a:rPr>
              <a:t>ý</a:t>
            </a:r>
            <a:r>
              <a:rPr lang="en-US" altLang="en-US" sz="1600" dirty="0">
                <a:latin typeface="Times New Roman" panose="02020603050405020304" pitchFamily="18" charset="0"/>
                <a:cs typeface="Times New Roman" panose="02020603050405020304" pitchFamily="18" charset="0"/>
              </a:rPr>
              <a:t> AI nhằm tạo ra một giải pháp học tiếng Anh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ơn giản, hiệu quả và phù hợp với học sinh THPT.</a:t>
            </a:r>
            <a:endParaRPr lang="en-US" altLang="en-US" sz="1600" dirty="0">
              <a:latin typeface="Times New Roman" panose="02020603050405020304" pitchFamily="18" charset="0"/>
              <a:cs typeface="Times New Roman" panose="02020603050405020304" pitchFamily="18" charset="0"/>
            </a:endParaRPr>
          </a:p>
        </p:txBody>
      </p:sp>
      <p:sp>
        <p:nvSpPr>
          <p:cNvPr id="3" name="Text Box 5"/>
          <p:cNvSpPr txBox="1"/>
          <p:nvPr/>
        </p:nvSpPr>
        <p:spPr>
          <a:xfrm>
            <a:off x="149225" y="3829685"/>
            <a:ext cx="4191000" cy="2391410"/>
          </a:xfrm>
          <a:prstGeom prst="rect">
            <a:avLst/>
          </a:prstGeom>
          <a:ln>
            <a:solidFill>
              <a:schemeClr val="tx1"/>
            </a:solidFill>
          </a:ln>
        </p:spPr>
        <p:txBody>
          <a:bodyPr wrap="square">
            <a:noAutofit/>
          </a:bodyPr>
          <a:lstStyle/>
          <a:p>
            <a:r>
              <a:rPr sz="1600" b="1" dirty="0">
                <a:latin typeface="Times New Roman" panose="02020603050405020304" pitchFamily="18" charset="0"/>
                <a:cs typeface="Times New Roman" panose="02020603050405020304" pitchFamily="18" charset="0"/>
              </a:rPr>
              <a:t>1.3. </a:t>
            </a:r>
            <a:r>
              <a:rPr sz="1600" b="1" dirty="0" err="1">
                <a:latin typeface="Times New Roman" panose="02020603050405020304" pitchFamily="18" charset="0"/>
                <a:cs typeface="Times New Roman" panose="02020603050405020304" pitchFamily="18" charset="0"/>
              </a:rPr>
              <a:t>Mục</a:t>
            </a:r>
            <a:r>
              <a:rPr sz="1600" b="1" dirty="0">
                <a:latin typeface="Times New Roman" panose="02020603050405020304" pitchFamily="18" charset="0"/>
                <a:cs typeface="Times New Roman" panose="02020603050405020304" pitchFamily="18" charset="0"/>
              </a:rPr>
              <a:t> </a:t>
            </a:r>
            <a:r>
              <a:rPr sz="1600" b="1" dirty="0" err="1">
                <a:latin typeface="Times New Roman" panose="02020603050405020304" pitchFamily="18" charset="0"/>
                <a:cs typeface="Times New Roman" panose="02020603050405020304" pitchFamily="18" charset="0"/>
              </a:rPr>
              <a:t>đích</a:t>
            </a:r>
            <a:r>
              <a:rPr sz="1600" b="1" dirty="0">
                <a:latin typeface="Times New Roman" panose="02020603050405020304" pitchFamily="18" charset="0"/>
                <a:cs typeface="Times New Roman" panose="02020603050405020304" pitchFamily="18" charset="0"/>
              </a:rPr>
              <a:t> </a:t>
            </a:r>
            <a:r>
              <a:rPr sz="1600" b="1" dirty="0" err="1">
                <a:latin typeface="Times New Roman" panose="02020603050405020304" pitchFamily="18" charset="0"/>
                <a:cs typeface="Times New Roman" panose="02020603050405020304" pitchFamily="18" charset="0"/>
              </a:rPr>
              <a:t>nghiên</a:t>
            </a:r>
            <a:r>
              <a:rPr sz="1600" b="1" dirty="0">
                <a:latin typeface="Times New Roman" panose="02020603050405020304" pitchFamily="18" charset="0"/>
                <a:cs typeface="Times New Roman" panose="02020603050405020304" pitchFamily="18" charset="0"/>
              </a:rPr>
              <a:t> </a:t>
            </a:r>
            <a:r>
              <a:rPr sz="1600" b="1" dirty="0" err="1">
                <a:latin typeface="Times New Roman" panose="02020603050405020304" pitchFamily="18" charset="0"/>
                <a:cs typeface="Times New Roman" panose="02020603050405020304" pitchFamily="18" charset="0"/>
              </a:rPr>
              <a:t>cứu</a:t>
            </a:r>
            <a:r>
              <a:rPr sz="1600" b="1" dirty="0">
                <a:latin typeface="Times New Roman" panose="02020603050405020304" pitchFamily="18" charset="0"/>
                <a:cs typeface="Times New Roman" panose="02020603050405020304" pitchFamily="18" charset="0"/>
              </a:rPr>
              <a:t>:</a:t>
            </a:r>
            <a:endParaRPr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Mục tiêu của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ề tài là xây dựng một trợ l</a:t>
            </a:r>
            <a:r>
              <a:rPr lang="" altLang="en-US" sz="1600" dirty="0">
                <a:latin typeface="Times New Roman" panose="02020603050405020304" pitchFamily="18" charset="0"/>
                <a:cs typeface="Times New Roman" panose="02020603050405020304" pitchFamily="18" charset="0"/>
              </a:rPr>
              <a:t>ý</a:t>
            </a:r>
            <a:r>
              <a:rPr lang="en-US" altLang="en-US" sz="1600" dirty="0">
                <a:latin typeface="Times New Roman" panose="02020603050405020304" pitchFamily="18" charset="0"/>
                <a:cs typeface="Times New Roman" panose="02020603050405020304" pitchFamily="18" charset="0"/>
              </a:rPr>
              <a:t> AI hỗ trợ học tiếng Anh dành cho học sinh THPT, dễ sử dụng và phù hợp với nhu cầu học tập thực tế. Cụ thể là phân tích khó kh</a:t>
            </a:r>
            <a:r>
              <a:rPr lang="" altLang="en-US" sz="1600" dirty="0">
                <a:latin typeface="Times New Roman" panose="02020603050405020304" pitchFamily="18" charset="0"/>
                <a:cs typeface="Times New Roman" panose="02020603050405020304" pitchFamily="18" charset="0"/>
              </a:rPr>
              <a:t>ă</a:t>
            </a:r>
            <a:r>
              <a:rPr lang="en-US" altLang="en-US" sz="1600" dirty="0">
                <a:latin typeface="Times New Roman" panose="02020603050405020304" pitchFamily="18" charset="0"/>
                <a:cs typeface="Times New Roman" panose="02020603050405020304" pitchFamily="18" charset="0"/>
              </a:rPr>
              <a:t>n mà học sinh gặp phải trong các kỹ n</a:t>
            </a:r>
            <a:r>
              <a:rPr lang="" altLang="en-US" sz="1600" dirty="0">
                <a:latin typeface="Times New Roman" panose="02020603050405020304" pitchFamily="18" charset="0"/>
                <a:cs typeface="Times New Roman" panose="02020603050405020304" pitchFamily="18" charset="0"/>
              </a:rPr>
              <a:t>ă</a:t>
            </a:r>
            <a:r>
              <a:rPr lang="en-US" altLang="en-US" sz="1600" dirty="0">
                <a:latin typeface="Times New Roman" panose="02020603050405020304" pitchFamily="18" charset="0"/>
                <a:cs typeface="Times New Roman" panose="02020603050405020304" pitchFamily="18" charset="0"/>
              </a:rPr>
              <a:t>ng nghe – nói – từ vựng; áp dụng các nguyên tắc UX/UI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ể tối </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u trải nghiệm học tập; và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ánh giá hiệu quả thông qua khảo sát ng</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ời dùng và thử nghiệm nguyên mẫu.</a:t>
            </a:r>
            <a:endParaRPr lang="en-US" altLang="en-US" sz="1600" dirty="0">
              <a:latin typeface="Times New Roman" panose="02020603050405020304" pitchFamily="18" charset="0"/>
              <a:cs typeface="Times New Roman" panose="02020603050405020304" pitchFamily="18" charset="0"/>
            </a:endParaRPr>
          </a:p>
        </p:txBody>
      </p:sp>
      <p:sp>
        <p:nvSpPr>
          <p:cNvPr id="10" name="Text Box 5"/>
          <p:cNvSpPr txBox="1"/>
          <p:nvPr/>
        </p:nvSpPr>
        <p:spPr>
          <a:xfrm>
            <a:off x="4684395" y="4066540"/>
            <a:ext cx="4310380" cy="1936115"/>
          </a:xfrm>
          <a:prstGeom prst="rect">
            <a:avLst/>
          </a:prstGeom>
          <a:ln>
            <a:solidFill>
              <a:schemeClr val="tx1"/>
            </a:solidFill>
          </a:ln>
        </p:spPr>
        <p:txBody>
          <a:bodyPr wrap="square">
            <a:noAutofit/>
          </a:bodyPr>
          <a:lstStyle/>
          <a:p>
            <a:r>
              <a:rPr lang="en-US" sz="1600" b="1" dirty="0">
                <a:latin typeface="Times New Roman" panose="02020603050405020304" pitchFamily="18" charset="0"/>
                <a:cs typeface="Times New Roman" panose="02020603050405020304" pitchFamily="18" charset="0"/>
              </a:rPr>
              <a:t>1.4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tượng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nghiên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cứu</a:t>
            </a:r>
            <a:endParaRPr lang="en-US" sz="1600" b="1"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	</a:t>
            </a:r>
            <a:r>
              <a:rPr lang="en-US" altLang="en-US" sz="1600" dirty="0">
                <a:latin typeface="Times New Roman" panose="02020603050405020304" pitchFamily="18" charset="0"/>
                <a:cs typeface="Times New Roman" panose="02020603050405020304" pitchFamily="18" charset="0"/>
              </a:rPr>
              <a:t>Học sinh trung học phổ thông (lớp 10–12),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ặc biệt là những em có nền tảng tiếng Anh còn hạn chế, gặp khó kh</a:t>
            </a:r>
            <a:r>
              <a:rPr lang="" altLang="en-US" sz="1600" dirty="0">
                <a:latin typeface="Times New Roman" panose="02020603050405020304" pitchFamily="18" charset="0"/>
                <a:cs typeface="Times New Roman" panose="02020603050405020304" pitchFamily="18" charset="0"/>
              </a:rPr>
              <a:t>ă</a:t>
            </a:r>
            <a:r>
              <a:rPr lang="en-US" altLang="en-US" sz="1600" dirty="0">
                <a:latin typeface="Times New Roman" panose="02020603050405020304" pitchFamily="18" charset="0"/>
                <a:cs typeface="Times New Roman" panose="02020603050405020304" pitchFamily="18" charset="0"/>
              </a:rPr>
              <a:t>n trong phát âm, từ vựng, nghe – nói hoặc ch</a:t>
            </a:r>
            <a:r>
              <a:rPr lang="" altLang="en-US" sz="1600" dirty="0">
                <a:latin typeface="Times New Roman" panose="02020603050405020304" pitchFamily="18" charset="0"/>
                <a:cs typeface="Times New Roman" panose="02020603050405020304" pitchFamily="18" charset="0"/>
              </a:rPr>
              <a:t>ư</a:t>
            </a:r>
            <a:r>
              <a:rPr lang="en-US" altLang="en-US" sz="1600" dirty="0">
                <a:latin typeface="Times New Roman" panose="02020603050405020304" pitchFamily="18" charset="0"/>
                <a:cs typeface="Times New Roman" panose="02020603050405020304" pitchFamily="18" charset="0"/>
              </a:rPr>
              <a:t>a quen sử dụng các ứng dụng học tập tiếng Anh.</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dirty="0"/>
              <a:t>CHƯƠNG II: PHƯƠNG PHÁP NGHIÊN CỨU</a:t>
            </a:r>
            <a:endParaRPr lang="vi-VN" altLang="en-US" sz="3300" dirty="0"/>
          </a:p>
        </p:txBody>
      </p:sp>
      <p:sp>
        <p:nvSpPr>
          <p:cNvPr id="5" name="TextBox 4"/>
          <p:cNvSpPr txBox="1"/>
          <p:nvPr/>
        </p:nvSpPr>
        <p:spPr>
          <a:xfrm>
            <a:off x="100330" y="1049655"/>
            <a:ext cx="8913495" cy="5187950"/>
          </a:xfrm>
          <a:prstGeom prst="rect">
            <a:avLst/>
          </a:prstGeom>
          <a:noFill/>
        </p:spPr>
        <p:txBody>
          <a:bodyPr wrap="square">
            <a:noAutofit/>
          </a:bodyPr>
          <a:lstStyle/>
          <a:p>
            <a:pPr>
              <a:buNone/>
            </a:pPr>
            <a:r>
              <a:rPr lang="vi-VN" b="1" dirty="0">
                <a:latin typeface="+mj-lt"/>
              </a:rPr>
              <a:t>Cách tiếp cận:</a:t>
            </a:r>
            <a:r>
              <a:rPr lang="vi-VN" dirty="0">
                <a:latin typeface="+mj-lt"/>
              </a:rPr>
              <a:t> </a:t>
            </a:r>
            <a:r>
              <a:rPr lang="en-US" altLang="en-US" dirty="0">
                <a:latin typeface="+mj-lt"/>
              </a:rPr>
              <a:t>Tiến hành phỏng vấn bán cấu trúc nhằm khai thác sâu các khó kh</a:t>
            </a:r>
            <a:r>
              <a:rPr lang="" altLang="en-US" dirty="0">
                <a:latin typeface="+mj-lt"/>
              </a:rPr>
              <a:t>ă</a:t>
            </a:r>
            <a:r>
              <a:rPr lang="en-US" altLang="en-US" dirty="0">
                <a:latin typeface="+mj-lt"/>
              </a:rPr>
              <a:t>n, nhu cầu và kỳ vọng của học sinh THPT trong quá trình học tiếng Anh, </a:t>
            </a:r>
            <a:r>
              <a:rPr lang="" altLang="en-US" dirty="0">
                <a:latin typeface="+mj-lt"/>
              </a:rPr>
              <a:t>đ</a:t>
            </a:r>
            <a:r>
              <a:rPr lang="en-US" altLang="en-US" dirty="0">
                <a:latin typeface="+mj-lt"/>
              </a:rPr>
              <a:t>ặc biệt ở các kỹ n</a:t>
            </a:r>
            <a:r>
              <a:rPr lang="" altLang="en-US" dirty="0">
                <a:latin typeface="+mj-lt"/>
              </a:rPr>
              <a:t>ă</a:t>
            </a:r>
            <a:r>
              <a:rPr lang="en-US" altLang="en-US" dirty="0">
                <a:latin typeface="+mj-lt"/>
              </a:rPr>
              <a:t>ng nghe, nói và ghi nhớ từ vựng.</a:t>
            </a:r>
            <a:endParaRPr lang="en-US" altLang="en-US" dirty="0">
              <a:latin typeface="+mj-lt"/>
            </a:endParaRPr>
          </a:p>
          <a:p>
            <a:pPr>
              <a:buNone/>
            </a:pPr>
            <a:endParaRPr lang="vi-VN" dirty="0">
              <a:latin typeface="+mj-lt"/>
            </a:endParaRPr>
          </a:p>
          <a:p>
            <a:pPr>
              <a:buNone/>
            </a:pPr>
            <a:r>
              <a:rPr lang="vi-VN" b="1" dirty="0">
                <a:latin typeface="+mj-lt"/>
              </a:rPr>
              <a:t>Phương pháp:</a:t>
            </a:r>
            <a:r>
              <a:rPr lang="vi-VN" dirty="0">
                <a:latin typeface="+mj-lt"/>
              </a:rPr>
              <a:t> </a:t>
            </a:r>
            <a:r>
              <a:rPr lang="en-US" altLang="en-US" dirty="0">
                <a:latin typeface="+mj-lt"/>
              </a:rPr>
              <a:t>Trao </a:t>
            </a:r>
            <a:r>
              <a:rPr lang="" altLang="en-US" dirty="0">
                <a:latin typeface="+mj-lt"/>
              </a:rPr>
              <a:t>đ</a:t>
            </a:r>
            <a:r>
              <a:rPr lang="en-US" altLang="en-US" dirty="0">
                <a:latin typeface="+mj-lt"/>
              </a:rPr>
              <a:t>ổi trực tiếp 1:1 với 3 học sinh, thời l</a:t>
            </a:r>
            <a:r>
              <a:rPr lang="" altLang="en-US" dirty="0">
                <a:latin typeface="+mj-lt"/>
              </a:rPr>
              <a:t>ư</a:t>
            </a:r>
            <a:r>
              <a:rPr lang="en-US" altLang="en-US" dirty="0">
                <a:latin typeface="+mj-lt"/>
              </a:rPr>
              <a:t>ợng 10–20 phút, thực hiện trong môi tr</a:t>
            </a:r>
            <a:r>
              <a:rPr lang="" altLang="en-US" dirty="0">
                <a:latin typeface="+mj-lt"/>
              </a:rPr>
              <a:t>ư</a:t>
            </a:r>
            <a:r>
              <a:rPr lang="en-US" altLang="en-US" dirty="0">
                <a:latin typeface="+mj-lt"/>
              </a:rPr>
              <a:t>ờng quen thuộc </a:t>
            </a:r>
            <a:r>
              <a:rPr lang="" altLang="en-US" dirty="0">
                <a:latin typeface="+mj-lt"/>
              </a:rPr>
              <a:t>đ</a:t>
            </a:r>
            <a:r>
              <a:rPr lang="en-US" altLang="en-US" dirty="0">
                <a:latin typeface="+mj-lt"/>
              </a:rPr>
              <a:t>ể tạo sự thoải mái và phản ánh </a:t>
            </a:r>
            <a:r>
              <a:rPr lang="" altLang="en-US" dirty="0">
                <a:latin typeface="+mj-lt"/>
              </a:rPr>
              <a:t>đ</a:t>
            </a:r>
            <a:r>
              <a:rPr lang="en-US" altLang="en-US" dirty="0">
                <a:latin typeface="+mj-lt"/>
              </a:rPr>
              <a:t>úng thói quen học tập thực tế.</a:t>
            </a:r>
            <a:endParaRPr lang="en-US" altLang="en-US" dirty="0">
              <a:latin typeface="+mj-lt"/>
            </a:endParaRPr>
          </a:p>
          <a:p>
            <a:pPr>
              <a:buNone/>
            </a:pPr>
            <a:endParaRPr lang="en-US" altLang="en-US" dirty="0">
              <a:latin typeface="+mj-lt"/>
            </a:endParaRPr>
          </a:p>
          <a:p>
            <a:pPr>
              <a:buNone/>
            </a:pPr>
            <a:r>
              <a:rPr lang="vi-VN" b="1" dirty="0">
                <a:latin typeface="+mj-lt"/>
              </a:rPr>
              <a:t>Công cụ:</a:t>
            </a:r>
            <a:r>
              <a:rPr lang="vi-VN" dirty="0">
                <a:latin typeface="+mj-lt"/>
              </a:rPr>
              <a:t> </a:t>
            </a:r>
            <a:r>
              <a:rPr lang="en-US" altLang="en-US" dirty="0">
                <a:latin typeface="+mj-lt"/>
              </a:rPr>
              <a:t>Bộ câu hỏi mở, thiết bị ghi âm từ </a:t>
            </a:r>
            <a:r>
              <a:rPr lang="" altLang="en-US" dirty="0">
                <a:latin typeface="+mj-lt"/>
              </a:rPr>
              <a:t>đ</a:t>
            </a:r>
            <a:r>
              <a:rPr lang="en-US" altLang="en-US" dirty="0">
                <a:latin typeface="+mj-lt"/>
              </a:rPr>
              <a:t>iện thoại và sổ ghi chú; toàn bộ thông tin ng</a:t>
            </a:r>
            <a:r>
              <a:rPr lang="" altLang="en-US" dirty="0">
                <a:latin typeface="+mj-lt"/>
              </a:rPr>
              <a:t>ư</a:t>
            </a:r>
            <a:r>
              <a:rPr lang="en-US" altLang="en-US" dirty="0">
                <a:latin typeface="+mj-lt"/>
              </a:rPr>
              <a:t>ời tham gia </a:t>
            </a:r>
            <a:r>
              <a:rPr lang="" altLang="en-US" dirty="0">
                <a:latin typeface="+mj-lt"/>
              </a:rPr>
              <a:t>đư</a:t>
            </a:r>
            <a:r>
              <a:rPr lang="en-US" altLang="en-US" dirty="0">
                <a:latin typeface="+mj-lt"/>
              </a:rPr>
              <a:t>ợc bảo mật theo </a:t>
            </a:r>
            <a:r>
              <a:rPr lang="" altLang="en-US" dirty="0">
                <a:latin typeface="+mj-lt"/>
              </a:rPr>
              <a:t>đ</a:t>
            </a:r>
            <a:r>
              <a:rPr lang="en-US" altLang="en-US" dirty="0">
                <a:latin typeface="+mj-lt"/>
              </a:rPr>
              <a:t>úng nguyên tắc nghiên cứu ng</a:t>
            </a:r>
            <a:r>
              <a:rPr lang="" altLang="en-US" dirty="0">
                <a:latin typeface="+mj-lt"/>
              </a:rPr>
              <a:t>ư</a:t>
            </a:r>
            <a:r>
              <a:rPr lang="en-US" altLang="en-US" dirty="0">
                <a:latin typeface="+mj-lt"/>
              </a:rPr>
              <a:t>ời dùng.</a:t>
            </a:r>
            <a:endParaRPr lang="en-US" altLang="en-US" dirty="0">
              <a:latin typeface="+mj-lt"/>
            </a:endParaRPr>
          </a:p>
          <a:p>
            <a:pPr>
              <a:buNone/>
            </a:pPr>
            <a:endParaRPr lang="en-US" altLang="en-US" dirty="0">
              <a:latin typeface="+mj-lt"/>
            </a:endParaRPr>
          </a:p>
          <a:p>
            <a:pPr>
              <a:buNone/>
            </a:pPr>
            <a:r>
              <a:rPr lang="vi-VN" b="1" dirty="0">
                <a:latin typeface="+mj-lt"/>
              </a:rPr>
              <a:t>Kết quả:</a:t>
            </a:r>
            <a:endParaRPr lang="vi-VN" dirty="0">
              <a:latin typeface="+mj-lt"/>
            </a:endParaRPr>
          </a:p>
          <a:p>
            <a:pPr lvl="1">
              <a:buFont typeface="Arial" panose="020B0604020202020204" pitchFamily="34" charset="0"/>
              <a:buChar char="•"/>
            </a:pPr>
            <a:r>
              <a:rPr lang="vi-VN" b="1" dirty="0">
                <a:latin typeface="+mj-lt"/>
              </a:rPr>
              <a:t>Khó khăn:</a:t>
            </a:r>
            <a:r>
              <a:rPr lang="vi-VN" dirty="0">
                <a:latin typeface="+mj-lt"/>
              </a:rPr>
              <a:t> </a:t>
            </a:r>
            <a:r>
              <a:rPr lang="en-US" altLang="en-US" dirty="0">
                <a:latin typeface="+mj-lt"/>
              </a:rPr>
              <a:t>Nghe không bắt kịp tốc </a:t>
            </a:r>
            <a:r>
              <a:rPr lang="" altLang="en-US" dirty="0">
                <a:latin typeface="+mj-lt"/>
              </a:rPr>
              <a:t>đ</a:t>
            </a:r>
            <a:r>
              <a:rPr lang="en-US" altLang="en-US" dirty="0">
                <a:latin typeface="+mj-lt"/>
              </a:rPr>
              <a:t>ộ, dễ quên từ vựng, phát âm sai và thiếu ph</a:t>
            </a:r>
            <a:r>
              <a:rPr lang="" altLang="en-US" dirty="0">
                <a:latin typeface="+mj-lt"/>
              </a:rPr>
              <a:t>ư</a:t>
            </a:r>
            <a:r>
              <a:rPr lang="en-US" altLang="en-US" dirty="0">
                <a:latin typeface="+mj-lt"/>
              </a:rPr>
              <a:t>ơng pháp tự học hiệu quả.</a:t>
            </a:r>
            <a:endParaRPr lang="en-US" altLang="en-US" dirty="0">
              <a:latin typeface="+mj-lt"/>
            </a:endParaRPr>
          </a:p>
          <a:p>
            <a:pPr lvl="1">
              <a:buFont typeface="Arial" panose="020B0604020202020204" pitchFamily="34" charset="0"/>
              <a:buChar char="•"/>
            </a:pPr>
            <a:r>
              <a:rPr lang="vi-VN" b="1" dirty="0">
                <a:latin typeface="+mj-lt"/>
              </a:rPr>
              <a:t>Động lực:</a:t>
            </a:r>
            <a:r>
              <a:rPr lang="vi-VN" dirty="0">
                <a:latin typeface="+mj-lt"/>
              </a:rPr>
              <a:t> </a:t>
            </a:r>
            <a:r>
              <a:rPr lang="en-US" dirty="0">
                <a:latin typeface="+mj-lt"/>
              </a:rPr>
              <a:t>Mong muốn </a:t>
            </a:r>
            <a:r>
              <a:rPr lang="en-US" altLang="en-US" dirty="0">
                <a:latin typeface="+mj-lt"/>
              </a:rPr>
              <a:t>uốn cải thiện </a:t>
            </a:r>
            <a:r>
              <a:rPr lang="" altLang="en-US" dirty="0">
                <a:latin typeface="+mj-lt"/>
              </a:rPr>
              <a:t>đ</a:t>
            </a:r>
            <a:r>
              <a:rPr lang="en-US" altLang="en-US" dirty="0">
                <a:latin typeface="+mj-lt"/>
              </a:rPr>
              <a:t>iểm thi, giao tiếp tốt hơn và tự tin trong môn tiếng Anh.</a:t>
            </a:r>
            <a:endParaRPr lang="en-US" altLang="en-US" dirty="0">
              <a:latin typeface="+mj-lt"/>
            </a:endParaRPr>
          </a:p>
          <a:p>
            <a:pPr lvl="1">
              <a:buFont typeface="Arial" panose="020B0604020202020204" pitchFamily="34" charset="0"/>
              <a:buChar char="•"/>
            </a:pPr>
            <a:r>
              <a:rPr lang="vi-VN" b="1" dirty="0">
                <a:latin typeface="+mj-lt"/>
              </a:rPr>
              <a:t>Nhu cầu:</a:t>
            </a:r>
            <a:r>
              <a:rPr lang="vi-VN" dirty="0">
                <a:latin typeface="+mj-lt"/>
              </a:rPr>
              <a:t> </a:t>
            </a:r>
            <a:r>
              <a:rPr lang="en-US" altLang="en-US" dirty="0">
                <a:latin typeface="+mj-lt"/>
              </a:rPr>
              <a:t>Ứng dụng </a:t>
            </a:r>
            <a:r>
              <a:rPr lang="" altLang="en-US" dirty="0">
                <a:latin typeface="+mj-lt"/>
              </a:rPr>
              <a:t>đ</a:t>
            </a:r>
            <a:r>
              <a:rPr lang="en-US" altLang="en-US" dirty="0">
                <a:latin typeface="+mj-lt"/>
              </a:rPr>
              <a:t>ơn giản, trực quan, có bài học ngắn gọn, phản hồi tức thì và phù hợp với ch</a:t>
            </a:r>
            <a:r>
              <a:rPr lang="" altLang="en-US" dirty="0">
                <a:latin typeface="+mj-lt"/>
              </a:rPr>
              <a:t>ư</a:t>
            </a:r>
            <a:r>
              <a:rPr lang="en-US" altLang="en-US" dirty="0">
                <a:latin typeface="+mj-lt"/>
              </a:rPr>
              <a:t>ơng trình THPT</a:t>
            </a:r>
            <a:r>
              <a:rPr lang="en-US" dirty="0">
                <a:latin typeface="+mj-lt"/>
              </a:rPr>
              <a:t>.</a:t>
            </a:r>
            <a:endParaRPr lang="vi-VN"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II: PHƯƠNG PHÁP NGHIÊN CỨU</a:t>
            </a:r>
            <a:endParaRPr lang="vi-VN" altLang="en-US" sz="3300"/>
          </a:p>
        </p:txBody>
      </p:sp>
      <p:sp>
        <p:nvSpPr>
          <p:cNvPr id="6" name="TextBox 5"/>
          <p:cNvSpPr txBox="1"/>
          <p:nvPr/>
        </p:nvSpPr>
        <p:spPr>
          <a:xfrm>
            <a:off x="72390" y="1210522"/>
            <a:ext cx="8999220" cy="1999615"/>
          </a:xfrm>
          <a:prstGeom prst="rect">
            <a:avLst/>
          </a:prstGeom>
          <a:noFill/>
        </p:spPr>
        <p:txBody>
          <a:bodyPr wrap="square">
            <a:spAutoFit/>
          </a:bodyPr>
          <a:lstStyle/>
          <a:p>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Xác</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định</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vấn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đề</a:t>
            </a:r>
            <a:r>
              <a:rPr lang="en-US" altLang="en-US" sz="2400" b="1" dirty="0">
                <a:latin typeface="Times New Roman" panose="02020603050405020304" pitchFamily="18" charset="0"/>
                <a:cs typeface="Times New Roman" panose="02020603050405020304" pitchFamily="18" charset="0"/>
              </a:rPr>
              <a:t> (Define)</a:t>
            </a:r>
            <a:endParaRPr lang="en-US" altLang="en-US" sz="2000" b="1" dirty="0">
              <a:latin typeface="Times New Roman" panose="02020603050405020304" pitchFamily="18" charset="0"/>
              <a:cs typeface="Times New Roman" panose="02020603050405020304" pitchFamily="18" charset="0"/>
            </a:endParaRPr>
          </a:p>
          <a:p>
            <a:endParaRPr lang="en-US" altLang="en-US" sz="2000" b="1"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sym typeface="+mn-ea"/>
              </a:rPr>
              <a:t>	</a:t>
            </a:r>
            <a:r>
              <a:rPr lang="vi-VN" sz="2000" dirty="0">
                <a:latin typeface="Times New Roman" panose="02020603050405020304" pitchFamily="18" charset="0"/>
                <a:cs typeface="Times New Roman" panose="02020603050405020304" pitchFamily="18" charset="0"/>
                <a:sym typeface="+mn-ea"/>
              </a:rPr>
              <a:t>Dữ liệu ghi âm từ các cuộc phỏng vấn được gỡ băng và phân tích để tìm ra các chủ đề chung. Nhóm sử dụng kỹ thuật Affinity Mapping (Sơ đồ tương đồng) để nhóm các câu nói, cảm xúc và nhu cầu lại với nhau, từ đó xây dựng nên một chân dung người dùng tổng hợp và xác định vấn đề cốt lõ</a:t>
            </a:r>
            <a:endParaRPr lang="en-US" altLang="en-US" sz="2000"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44780" y="3401969"/>
            <a:ext cx="8898890" cy="2922905"/>
          </a:xfrm>
          <a:prstGeom prst="rect">
            <a:avLst/>
          </a:prstGeom>
          <a:noFill/>
        </p:spPr>
        <p:txBody>
          <a:bodyPr wrap="square">
            <a:spAutoFit/>
          </a:bodyPr>
          <a:lstStyle/>
          <a:p>
            <a:r>
              <a:rPr lang="vi-VN" sz="2400" b="1" dirty="0">
                <a:latin typeface="+mj-lt"/>
              </a:rPr>
              <a:t>Hình thành ý tưởng (Ideate)</a:t>
            </a:r>
            <a:endParaRPr lang="en-US" sz="2400" b="1" dirty="0">
              <a:latin typeface="+mj-lt"/>
            </a:endParaRPr>
          </a:p>
          <a:p>
            <a:endParaRPr lang="vi-VN" sz="2000" b="1" dirty="0">
              <a:latin typeface="+mj-lt"/>
            </a:endParaRPr>
          </a:p>
          <a:p>
            <a:r>
              <a:rPr lang="vi-VN" sz="2000" b="1" dirty="0">
                <a:latin typeface="+mj-lt"/>
              </a:rPr>
              <a:t>Ý tưởng chính:</a:t>
            </a:r>
            <a:endParaRPr lang="vi-VN" sz="2000" dirty="0">
              <a:latin typeface="+mj-lt"/>
            </a:endParaRPr>
          </a:p>
          <a:p>
            <a:pPr marL="742950" lvl="1" indent="-285750">
              <a:buFont typeface="Wingdings" panose="05000000000000000000" pitchFamily="2" charset="2"/>
              <a:buChar char="Ø"/>
            </a:pPr>
            <a:r>
              <a:rPr lang="en-US" altLang="en-US" sz="2000" dirty="0">
                <a:latin typeface="+mj-lt"/>
              </a:rPr>
              <a:t>Học thông qua các chủ </a:t>
            </a:r>
            <a:r>
              <a:rPr lang="" altLang="en-US" sz="2000" dirty="0">
                <a:latin typeface="+mj-lt"/>
              </a:rPr>
              <a:t>đ</a:t>
            </a:r>
            <a:r>
              <a:rPr lang="en-US" altLang="en-US" sz="2000" dirty="0">
                <a:latin typeface="+mj-lt"/>
              </a:rPr>
              <a:t>ề quen thuộc trong ch</a:t>
            </a:r>
            <a:r>
              <a:rPr lang="" altLang="en-US" sz="2000" dirty="0">
                <a:latin typeface="+mj-lt"/>
              </a:rPr>
              <a:t>ư</a:t>
            </a:r>
            <a:r>
              <a:rPr lang="en-US" altLang="en-US" sz="2000" dirty="0">
                <a:latin typeface="+mj-lt"/>
              </a:rPr>
              <a:t>ơng trình THPT (tr</a:t>
            </a:r>
            <a:r>
              <a:rPr lang="" altLang="en-US" sz="2000" dirty="0">
                <a:latin typeface="+mj-lt"/>
              </a:rPr>
              <a:t>ư</a:t>
            </a:r>
            <a:r>
              <a:rPr lang="en-US" altLang="en-US" sz="2000" dirty="0">
                <a:latin typeface="+mj-lt"/>
              </a:rPr>
              <a:t>ờng học, gia </a:t>
            </a:r>
            <a:r>
              <a:rPr lang="" altLang="en-US" sz="2000" dirty="0">
                <a:latin typeface="+mj-lt"/>
              </a:rPr>
              <a:t>đ</a:t>
            </a:r>
            <a:r>
              <a:rPr lang="en-US" altLang="en-US" sz="2000" dirty="0">
                <a:latin typeface="+mj-lt"/>
              </a:rPr>
              <a:t>ình, sở thích, giao tiếp cơ bản…).</a:t>
            </a:r>
            <a:endParaRPr lang="vi-VN" sz="2000" dirty="0">
              <a:latin typeface="+mj-lt"/>
            </a:endParaRPr>
          </a:p>
          <a:p>
            <a:pPr marL="742950" lvl="1" indent="-285750">
              <a:buFont typeface="Wingdings" panose="05000000000000000000" pitchFamily="2" charset="2"/>
              <a:buChar char="Ø"/>
            </a:pPr>
            <a:r>
              <a:rPr lang="en-US" altLang="en-US" sz="2000" dirty="0">
                <a:latin typeface="+mj-lt"/>
              </a:rPr>
              <a:t>T</a:t>
            </a:r>
            <a:r>
              <a:rPr lang="" altLang="en-US" sz="2000" dirty="0">
                <a:latin typeface="+mj-lt"/>
              </a:rPr>
              <a:t>ă</a:t>
            </a:r>
            <a:r>
              <a:rPr lang="en-US" altLang="en-US" sz="2000" dirty="0">
                <a:latin typeface="+mj-lt"/>
              </a:rPr>
              <a:t>ng c</a:t>
            </a:r>
            <a:r>
              <a:rPr lang="" altLang="en-US" sz="2000" dirty="0">
                <a:latin typeface="+mj-lt"/>
              </a:rPr>
              <a:t>ư</a:t>
            </a:r>
            <a:r>
              <a:rPr lang="en-US" altLang="en-US" sz="2000" dirty="0">
                <a:latin typeface="+mj-lt"/>
              </a:rPr>
              <a:t>ờng giọng </a:t>
            </a:r>
            <a:r>
              <a:rPr lang="" altLang="en-US" sz="2000" dirty="0">
                <a:latin typeface="+mj-lt"/>
              </a:rPr>
              <a:t>đ</a:t>
            </a:r>
            <a:r>
              <a:rPr lang="en-US" altLang="en-US" sz="2000" dirty="0">
                <a:latin typeface="+mj-lt"/>
              </a:rPr>
              <a:t>ọc mẫu và âm thanh h</a:t>
            </a:r>
            <a:r>
              <a:rPr lang="" altLang="en-US" sz="2000" dirty="0">
                <a:latin typeface="+mj-lt"/>
              </a:rPr>
              <a:t>ư</a:t>
            </a:r>
            <a:r>
              <a:rPr lang="en-US" altLang="en-US" sz="2000" dirty="0">
                <a:latin typeface="+mj-lt"/>
              </a:rPr>
              <a:t>ớng dẫn giúp luyện nghe và bắt ch</a:t>
            </a:r>
            <a:r>
              <a:rPr lang="" altLang="en-US" sz="2000" dirty="0">
                <a:latin typeface="+mj-lt"/>
              </a:rPr>
              <a:t>ư</a:t>
            </a:r>
            <a:r>
              <a:rPr lang="en-US" altLang="en-US" sz="2000" dirty="0">
                <a:latin typeface="+mj-lt"/>
              </a:rPr>
              <a:t>ớc phát âm.</a:t>
            </a:r>
            <a:endParaRPr lang="en-US" altLang="en-US" sz="2000" dirty="0">
              <a:latin typeface="+mj-lt"/>
            </a:endParaRPr>
          </a:p>
          <a:p>
            <a:pPr marL="742950" lvl="1" indent="-285750">
              <a:buFont typeface="Wingdings" panose="05000000000000000000" pitchFamily="2" charset="2"/>
              <a:buChar char="Ø"/>
            </a:pPr>
            <a:r>
              <a:rPr lang="vi-VN" sz="2000" dirty="0">
                <a:latin typeface="+mj-lt"/>
              </a:rPr>
              <a:t>Giao diện đơn giản, </a:t>
            </a:r>
            <a:r>
              <a:rPr lang="en-US" altLang="en-US" sz="2000" dirty="0">
                <a:latin typeface="+mj-lt"/>
              </a:rPr>
              <a:t>trực quan, phù hợp với thói quen sử dụng ứng dụng của học sinh</a:t>
            </a:r>
            <a:endParaRPr lang="vi-VN" sz="2000"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vi-VN" altLang="en-US" sz="3300"/>
              <a:t>CHƯƠNG III: KẾT QUẢ NGHIÊN CỨU</a:t>
            </a:r>
            <a:endParaRPr lang="vi-VN" altLang="en-US" sz="3300"/>
          </a:p>
        </p:txBody>
      </p:sp>
      <p:sp>
        <p:nvSpPr>
          <p:cNvPr id="5" name="Text Box 4"/>
          <p:cNvSpPr txBox="1"/>
          <p:nvPr/>
        </p:nvSpPr>
        <p:spPr>
          <a:xfrm>
            <a:off x="649605" y="1049655"/>
            <a:ext cx="7779385" cy="460375"/>
          </a:xfrm>
          <a:prstGeom prst="rect">
            <a:avLst/>
          </a:prstGeom>
        </p:spPr>
        <p:txBody>
          <a:bodyPr wrap="square">
            <a:spAutoFit/>
          </a:bodyPr>
          <a:lstStyle/>
          <a:p>
            <a:pPr algn="ctr"/>
            <a:r>
              <a:rPr lang="en-US" sz="2400" b="1" dirty="0" err="1">
                <a:latin typeface="+mj-lt"/>
              </a:rPr>
              <a:t>Tóm tắt nhu cầu và khó khăn của người dùng</a:t>
            </a:r>
            <a:endParaRPr lang="en-US" sz="2400" b="1" dirty="0">
              <a:latin typeface="+mj-lt"/>
            </a:endParaRPr>
          </a:p>
        </p:txBody>
      </p:sp>
      <p:sp>
        <p:nvSpPr>
          <p:cNvPr id="9" name="Text Box 8"/>
          <p:cNvSpPr txBox="1"/>
          <p:nvPr/>
        </p:nvSpPr>
        <p:spPr>
          <a:xfrm>
            <a:off x="85725" y="2095500"/>
            <a:ext cx="4191000" cy="2514600"/>
          </a:xfrm>
          <a:prstGeom prst="rect">
            <a:avLst/>
          </a:prstGeom>
          <a:ln>
            <a:solidFill>
              <a:schemeClr val="tx1"/>
            </a:solidFill>
          </a:ln>
        </p:spPr>
        <p:txBody>
          <a:bodyPr wrap="square">
            <a:noAutofit/>
          </a:bodyPr>
          <a:lstStyle/>
          <a:p>
            <a:r>
              <a:rPr lang="en-US" sz="1600" b="1" dirty="0">
                <a:latin typeface="Times New Roman" panose="02020603050405020304" pitchFamily="18" charset="0"/>
                <a:cs typeface="Times New Roman" panose="02020603050405020304" pitchFamily="18" charset="0"/>
              </a:rPr>
              <a:t>Nhu cầu:</a:t>
            </a:r>
            <a:endParaRPr lang="en-US" sz="1600" b="1" dirty="0">
              <a:latin typeface="Times New Roman" panose="02020603050405020304" pitchFamily="18" charset="0"/>
              <a:cs typeface="Times New Roman" panose="02020603050405020304" pitchFamily="18" charset="0"/>
            </a:endParaRPr>
          </a:p>
          <a:p>
            <a:endParaRPr sz="1600" b="1" dirty="0">
              <a:latin typeface="Times New Roman" panose="02020603050405020304" pitchFamily="18" charset="0"/>
              <a:cs typeface="Times New Roman" panose="02020603050405020304" pitchFamily="18" charset="0"/>
            </a:endParaRPr>
          </a:p>
          <a:p>
            <a:pPr algn="just"/>
            <a:r>
              <a:rPr sz="1600" dirty="0">
                <a:latin typeface="+mj-lt"/>
              </a:rPr>
              <a:t> </a:t>
            </a:r>
            <a:r>
              <a:rPr lang="en-US" altLang="en-US" sz="1600" dirty="0">
                <a:latin typeface="Times New Roman" panose="02020603050405020304" pitchFamily="18" charset="0"/>
                <a:cs typeface="Times New Roman" panose="02020603050405020304" pitchFamily="18" charset="0"/>
              </a:rPr>
              <a:t>Bài học ngắn, dễ hiểu</a:t>
            </a:r>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Có giọng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ọc mẫu và phản hồi tức thì</a:t>
            </a:r>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Luyện tập dạng giải trí → </a:t>
            </a:r>
            <a:r>
              <a:rPr lang="" altLang="en-US" sz="1600" dirty="0">
                <a:latin typeface="Times New Roman" panose="02020603050405020304" pitchFamily="18" charset="0"/>
                <a:cs typeface="Times New Roman" panose="02020603050405020304" pitchFamily="18" charset="0"/>
              </a:rPr>
              <a:t>đ</a:t>
            </a:r>
            <a:r>
              <a:rPr lang="en-US" altLang="en-US" sz="1600" dirty="0">
                <a:latin typeface="Times New Roman" panose="02020603050405020304" pitchFamily="18" charset="0"/>
                <a:cs typeface="Times New Roman" panose="02020603050405020304" pitchFamily="18" charset="0"/>
              </a:rPr>
              <a:t>ỡ chán</a:t>
            </a:r>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Lộ trình r</a:t>
            </a:r>
            <a:r>
              <a:rPr lang="" altLang="en-US" sz="1600" dirty="0">
                <a:latin typeface="Times New Roman" panose="02020603050405020304" pitchFamily="18" charset="0"/>
                <a:cs typeface="Times New Roman" panose="02020603050405020304" pitchFamily="18" charset="0"/>
              </a:rPr>
              <a:t>õ</a:t>
            </a:r>
            <a:r>
              <a:rPr lang="en-US" altLang="en-US" sz="1600" dirty="0">
                <a:latin typeface="Times New Roman" panose="02020603050405020304" pitchFamily="18" charset="0"/>
                <a:cs typeface="Times New Roman" panose="02020603050405020304" pitchFamily="18" charset="0"/>
              </a:rPr>
              <a:t> ràng, phù hợp THPT</a:t>
            </a:r>
            <a:endParaRPr lang="en-US" altLang="en-US" sz="1600" dirty="0">
              <a:latin typeface="Times New Roman" panose="02020603050405020304" pitchFamily="18" charset="0"/>
              <a:cs typeface="Times New Roman" panose="02020603050405020304" pitchFamily="18" charset="0"/>
            </a:endParaRPr>
          </a:p>
        </p:txBody>
      </p:sp>
      <p:sp>
        <p:nvSpPr>
          <p:cNvPr id="10" name="Text Box 9"/>
          <p:cNvSpPr txBox="1"/>
          <p:nvPr/>
        </p:nvSpPr>
        <p:spPr>
          <a:xfrm>
            <a:off x="4669155" y="2095500"/>
            <a:ext cx="4191000" cy="2514600"/>
          </a:xfrm>
          <a:prstGeom prst="rect">
            <a:avLst/>
          </a:prstGeom>
          <a:ln>
            <a:solidFill>
              <a:schemeClr val="tx1"/>
            </a:solidFill>
          </a:ln>
        </p:spPr>
        <p:txBody>
          <a:bodyPr wrap="square">
            <a:noAutofit/>
          </a:bodyPr>
          <a:lstStyle/>
          <a:p>
            <a:r>
              <a:rPr lang="en-US" sz="1600" b="1" dirty="0">
                <a:latin typeface="Times New Roman" panose="02020603050405020304" pitchFamily="18" charset="0"/>
                <a:cs typeface="Times New Roman" panose="02020603050405020304" pitchFamily="18" charset="0"/>
              </a:rPr>
              <a:t>Khó khăn:</a:t>
            </a:r>
            <a:endParaRPr lang="en-US" sz="1600" b="1" dirty="0">
              <a:latin typeface="Times New Roman" panose="02020603050405020304" pitchFamily="18" charset="0"/>
              <a:cs typeface="Times New Roman" panose="02020603050405020304" pitchFamily="18" charset="0"/>
            </a:endParaRPr>
          </a:p>
          <a:p>
            <a:endParaRPr sz="1600" b="1"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Phát âm sai → ngại giao tiếp</a:t>
            </a:r>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Nghe không hiểu → dễ nản</a:t>
            </a:r>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Từ vựng khó nhớ → quên nhanh</a:t>
            </a:r>
            <a:endParaRPr lang="en-US" altLang="en-US" sz="1600" dirty="0">
              <a:latin typeface="Times New Roman" panose="02020603050405020304" pitchFamily="18" charset="0"/>
              <a:cs typeface="Times New Roman" panose="02020603050405020304" pitchFamily="18" charset="0"/>
            </a:endParaRPr>
          </a:p>
          <a:p>
            <a:pPr algn="just"/>
            <a:endParaRPr lang="en-US" altLang="en-US" sz="1600" dirty="0">
              <a:latin typeface="Times New Roman" panose="02020603050405020304" pitchFamily="18" charset="0"/>
              <a:cs typeface="Times New Roman" panose="02020603050405020304" pitchFamily="18" charset="0"/>
            </a:endParaRPr>
          </a:p>
          <a:p>
            <a:pPr algn="just"/>
            <a:r>
              <a:rPr lang="en-US" altLang="en-US" sz="1600" dirty="0">
                <a:latin typeface="Times New Roman" panose="02020603050405020304" pitchFamily="18" charset="0"/>
                <a:cs typeface="Times New Roman" panose="02020603050405020304" pitchFamily="18" charset="0"/>
              </a:rPr>
              <a:t>Ngữ pháp phức tạp → khó áp dụng</a:t>
            </a:r>
            <a:endParaRPr lang="en-US" alt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III: KẾT QUẢ NGHIÊN CỨU</a:t>
            </a:r>
            <a:endParaRPr lang="vi-VN" altLang="en-US" sz="3300"/>
          </a:p>
        </p:txBody>
      </p:sp>
      <p:sp>
        <p:nvSpPr>
          <p:cNvPr id="4" name="TextBox 3"/>
          <p:cNvSpPr txBox="1"/>
          <p:nvPr/>
        </p:nvSpPr>
        <p:spPr>
          <a:xfrm>
            <a:off x="88900" y="1049655"/>
            <a:ext cx="8954770" cy="5200650"/>
          </a:xfrm>
          <a:prstGeom prst="rect">
            <a:avLst/>
          </a:prstGeom>
          <a:noFill/>
        </p:spPr>
        <p:txBody>
          <a:bodyPr wrap="square">
            <a:spAutoFit/>
          </a:bodyPr>
          <a:lstStyle/>
          <a:p>
            <a:pPr>
              <a:buNone/>
            </a:pPr>
            <a:r>
              <a:rPr lang="vi-VN" b="1" dirty="0">
                <a:latin typeface="Times New Roman" panose="02020603050405020304" pitchFamily="18" charset="0"/>
                <a:cs typeface="Times New Roman" panose="02020603050405020304" pitchFamily="18" charset="0"/>
              </a:rPr>
              <a:t> </a:t>
            </a:r>
            <a:r>
              <a:rPr lang="vi-VN" sz="2400" b="1" dirty="0">
                <a:latin typeface="Times New Roman" panose="02020603050405020304" pitchFamily="18" charset="0"/>
                <a:cs typeface="Times New Roman" panose="02020603050405020304" pitchFamily="18" charset="0"/>
              </a:rPr>
              <a:t>Điểm đau (Pain Points)</a:t>
            </a:r>
            <a:endParaRPr lang="en-US" sz="2400" b="1" dirty="0">
              <a:latin typeface="Times New Roman" panose="02020603050405020304" pitchFamily="18" charset="0"/>
              <a:cs typeface="Times New Roman" panose="02020603050405020304" pitchFamily="18" charset="0"/>
            </a:endParaRPr>
          </a:p>
          <a:p>
            <a:pPr>
              <a:buNone/>
            </a:pPr>
            <a:endParaRPr lang="vi-VN" sz="2000" b="1"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altLang="vi-VN" b="1" dirty="0">
                <a:latin typeface="Times New Roman" panose="02020603050405020304" pitchFamily="18" charset="0"/>
                <a:cs typeface="Times New Roman" panose="02020603050405020304" pitchFamily="18" charset="0"/>
              </a:rPr>
              <a:t>Kỹ năng Tiếng Anh</a:t>
            </a:r>
            <a:r>
              <a:rPr lang="vi-VN" b="1"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Học sinh dễ bị quá tải khi học ngữ pháp, khó nhớ từ vựng, phát âm sai và nghe không hiểu, khiến các em nhanh nản và mất tự tin</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endParaRPr lang="vi-VN"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b="1" dirty="0">
                <a:latin typeface="Times New Roman" panose="02020603050405020304" pitchFamily="18" charset="0"/>
                <a:cs typeface="Times New Roman" panose="02020603050405020304" pitchFamily="18" charset="0"/>
              </a:rPr>
              <a:t>Tự ti &amp; Ngại giao tiếp:</a:t>
            </a:r>
            <a:r>
              <a:rPr lang="en-US" altLang="vi-VN"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Nhiều học sinh cảm thấy xấu hổ khi nói tiếng Anh vì sợ phát âm sai hoặc trả lời không </a:t>
            </a:r>
            <a:r>
              <a:rPr lang="" altLang="en-US" dirty="0">
                <a:latin typeface="Times New Roman" panose="02020603050405020304" pitchFamily="18" charset="0"/>
                <a:cs typeface="Times New Roman" panose="02020603050405020304" pitchFamily="18" charset="0"/>
              </a:rPr>
              <a:t>đ</a:t>
            </a:r>
            <a:r>
              <a:rPr lang="en-US" altLang="en-US" dirty="0">
                <a:latin typeface="Times New Roman" panose="02020603050405020304" pitchFamily="18" charset="0"/>
                <a:cs typeface="Times New Roman" panose="02020603050405020304" pitchFamily="18" charset="0"/>
              </a:rPr>
              <a:t>úng, dẫn </a:t>
            </a:r>
            <a:r>
              <a:rPr lang="" altLang="en-US" dirty="0">
                <a:latin typeface="Times New Roman" panose="02020603050405020304" pitchFamily="18" charset="0"/>
                <a:cs typeface="Times New Roman" panose="02020603050405020304" pitchFamily="18" charset="0"/>
              </a:rPr>
              <a:t>đ</a:t>
            </a:r>
            <a:r>
              <a:rPr lang="en-US" altLang="en-US" dirty="0">
                <a:latin typeface="Times New Roman" panose="02020603050405020304" pitchFamily="18" charset="0"/>
                <a:cs typeface="Times New Roman" panose="02020603050405020304" pitchFamily="18" charset="0"/>
              </a:rPr>
              <a:t>ến ngại luyện nói và tránh giao tiếp</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endParaRPr lang="vi-VN"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Thiếu ph</a:t>
            </a:r>
            <a:r>
              <a:rPr lang="" altLang="en-US" b="1" dirty="0">
                <a:latin typeface="Times New Roman" panose="02020603050405020304" pitchFamily="18" charset="0"/>
                <a:cs typeface="Times New Roman" panose="02020603050405020304" pitchFamily="18" charset="0"/>
              </a:rPr>
              <a:t>ư</a:t>
            </a:r>
            <a:r>
              <a:rPr lang="en-US" altLang="en-US" b="1" dirty="0">
                <a:latin typeface="Times New Roman" panose="02020603050405020304" pitchFamily="18" charset="0"/>
                <a:cs typeface="Times New Roman" panose="02020603050405020304" pitchFamily="18" charset="0"/>
              </a:rPr>
              <a:t>ơng pháp &amp; công cụ học phù hợp</a:t>
            </a:r>
            <a:r>
              <a:rPr lang="vi-VN" b="1"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Các ứng dụng học tiếng Anh hiện có th</a:t>
            </a:r>
            <a:r>
              <a:rPr lang="" altLang="en-US" dirty="0">
                <a:latin typeface="Times New Roman" panose="02020603050405020304" pitchFamily="18" charset="0"/>
                <a:cs typeface="Times New Roman" panose="02020603050405020304" pitchFamily="18" charset="0"/>
              </a:rPr>
              <a:t>ư</a:t>
            </a:r>
            <a:r>
              <a:rPr lang="en-US" altLang="en-US" dirty="0">
                <a:latin typeface="Times New Roman" panose="02020603050405020304" pitchFamily="18" charset="0"/>
                <a:cs typeface="Times New Roman" panose="02020603050405020304" pitchFamily="18" charset="0"/>
              </a:rPr>
              <a:t>ờng không bám sát ch</a:t>
            </a:r>
            <a:r>
              <a:rPr lang="" altLang="en-US" dirty="0">
                <a:latin typeface="Times New Roman" panose="02020603050405020304" pitchFamily="18" charset="0"/>
                <a:cs typeface="Times New Roman" panose="02020603050405020304" pitchFamily="18" charset="0"/>
              </a:rPr>
              <a:t>ư</a:t>
            </a:r>
            <a:r>
              <a:rPr lang="en-US" altLang="en-US" dirty="0">
                <a:latin typeface="Times New Roman" panose="02020603050405020304" pitchFamily="18" charset="0"/>
                <a:cs typeface="Times New Roman" panose="02020603050405020304" pitchFamily="18" charset="0"/>
              </a:rPr>
              <a:t>ơng trình THPT, quá phức tạp hoặc không có h</a:t>
            </a:r>
            <a:r>
              <a:rPr lang="" altLang="en-US" dirty="0">
                <a:latin typeface="Times New Roman" panose="02020603050405020304" pitchFamily="18" charset="0"/>
                <a:cs typeface="Times New Roman" panose="02020603050405020304" pitchFamily="18" charset="0"/>
              </a:rPr>
              <a:t>ư</a:t>
            </a:r>
            <a:r>
              <a:rPr lang="en-US" altLang="en-US" dirty="0">
                <a:latin typeface="Times New Roman" panose="02020603050405020304" pitchFamily="18" charset="0"/>
                <a:cs typeface="Times New Roman" panose="02020603050405020304" pitchFamily="18" charset="0"/>
              </a:rPr>
              <a:t>ớng dẫn r</a:t>
            </a:r>
            <a:r>
              <a:rPr lang="" altLang="en-US" dirty="0">
                <a:latin typeface="Times New Roman" panose="02020603050405020304" pitchFamily="18" charset="0"/>
                <a:cs typeface="Times New Roman" panose="02020603050405020304" pitchFamily="18" charset="0"/>
              </a:rPr>
              <a:t>õ</a:t>
            </a:r>
            <a:r>
              <a:rPr lang="en-US" altLang="en-US" dirty="0">
                <a:latin typeface="Times New Roman" panose="02020603050405020304" pitchFamily="18" charset="0"/>
                <a:cs typeface="Times New Roman" panose="02020603050405020304" pitchFamily="18" charset="0"/>
              </a:rPr>
              <a:t> ràng, khiến học sinh khó tiếp cận và dễ bỏ cuộc.</a:t>
            </a:r>
            <a:endParaRPr lang="en-US" alt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endParaRPr lang="en-US" alt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Thói quen học tập không ổn </a:t>
            </a:r>
            <a:r>
              <a:rPr lang="" altLang="en-US" b="1" dirty="0">
                <a:latin typeface="Times New Roman" panose="02020603050405020304" pitchFamily="18" charset="0"/>
                <a:cs typeface="Times New Roman" panose="02020603050405020304" pitchFamily="18" charset="0"/>
              </a:rPr>
              <a:t>đ</a:t>
            </a:r>
            <a:r>
              <a:rPr lang="en-US" altLang="en-US" b="1" dirty="0">
                <a:latin typeface="Times New Roman" panose="02020603050405020304" pitchFamily="18" charset="0"/>
                <a:cs typeface="Times New Roman" panose="02020603050405020304" pitchFamily="18" charset="0"/>
              </a:rPr>
              <a:t>ịnh</a:t>
            </a:r>
            <a:r>
              <a:rPr lang="vi-VN" b="1" dirty="0">
                <a:latin typeface="Times New Roman" panose="02020603050405020304" pitchFamily="18" charset="0"/>
                <a:cs typeface="Times New Roman" panose="02020603050405020304" pitchFamily="18" charset="0"/>
              </a:rPr>
              <a:t>:</a:t>
            </a:r>
            <a:r>
              <a:rPr lang="vi-V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Học sinh chỉ học khi gần kiểm tra, không có lộ trình r</a:t>
            </a:r>
            <a:r>
              <a:rPr lang="" altLang="en-US" dirty="0">
                <a:latin typeface="Times New Roman" panose="02020603050405020304" pitchFamily="18" charset="0"/>
                <a:cs typeface="Times New Roman" panose="02020603050405020304" pitchFamily="18" charset="0"/>
              </a:rPr>
              <a:t>õ</a:t>
            </a:r>
            <a:r>
              <a:rPr lang="en-US" altLang="en-US" dirty="0">
                <a:latin typeface="Times New Roman" panose="02020603050405020304" pitchFamily="18" charset="0"/>
                <a:cs typeface="Times New Roman" panose="02020603050405020304" pitchFamily="18" charset="0"/>
              </a:rPr>
              <a:t> ràng và không </a:t>
            </a:r>
            <a:r>
              <a:rPr lang="" altLang="en-US" dirty="0">
                <a:latin typeface="Times New Roman" panose="02020603050405020304" pitchFamily="18" charset="0"/>
                <a:cs typeface="Times New Roman" panose="02020603050405020304" pitchFamily="18" charset="0"/>
              </a:rPr>
              <a:t>đư</a:t>
            </a:r>
            <a:r>
              <a:rPr lang="en-US" altLang="en-US" dirty="0">
                <a:latin typeface="Times New Roman" panose="02020603050405020304" pitchFamily="18" charset="0"/>
                <a:cs typeface="Times New Roman" panose="02020603050405020304" pitchFamily="18" charset="0"/>
              </a:rPr>
              <a:t>ợc luyện tập </a:t>
            </a:r>
            <a:r>
              <a:rPr lang="" altLang="en-US" dirty="0">
                <a:latin typeface="Times New Roman" panose="02020603050405020304" pitchFamily="18" charset="0"/>
                <a:cs typeface="Times New Roman" panose="02020603050405020304" pitchFamily="18" charset="0"/>
              </a:rPr>
              <a:t>đ</a:t>
            </a:r>
            <a:r>
              <a:rPr lang="en-US" altLang="en-US" dirty="0">
                <a:latin typeface="Times New Roman" panose="02020603050405020304" pitchFamily="18" charset="0"/>
                <a:cs typeface="Times New Roman" panose="02020603050405020304" pitchFamily="18" charset="0"/>
              </a:rPr>
              <a:t>ều </a:t>
            </a:r>
            <a:r>
              <a:rPr lang="" altLang="en-US" dirty="0">
                <a:latin typeface="Times New Roman" panose="02020603050405020304" pitchFamily="18" charset="0"/>
                <a:cs typeface="Times New Roman" panose="02020603050405020304" pitchFamily="18" charset="0"/>
              </a:rPr>
              <a:t>đ</a:t>
            </a:r>
            <a:r>
              <a:rPr lang="en-US" altLang="en-US" dirty="0">
                <a:latin typeface="Times New Roman" panose="02020603050405020304" pitchFamily="18" charset="0"/>
                <a:cs typeface="Times New Roman" panose="02020603050405020304" pitchFamily="18" charset="0"/>
              </a:rPr>
              <a:t>ặn nên kiến thức nhanh chóng bị quên.</a:t>
            </a:r>
            <a:endParaRPr lang="en-US" altLang="en-US" dirty="0">
              <a:latin typeface="Times New Roman" panose="02020603050405020304" pitchFamily="18" charset="0"/>
              <a:cs typeface="Times New Roman" panose="02020603050405020304" pitchFamily="18" charset="0"/>
            </a:endParaRPr>
          </a:p>
          <a:p>
            <a:pPr lvl="1" indent="0">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b="1" dirty="0">
                <a:latin typeface="Times New Roman" panose="02020603050405020304" pitchFamily="18" charset="0"/>
                <a:cs typeface="Times New Roman" panose="02020603050405020304" pitchFamily="18" charset="0"/>
              </a:rPr>
              <a:t>Insight:</a:t>
            </a:r>
            <a:r>
              <a:rPr lang="vi-VN"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Ứng dụng cần </a:t>
            </a:r>
            <a:r>
              <a:rPr lang="" altLang="en-US" dirty="0">
                <a:latin typeface="Times New Roman" panose="02020603050405020304" pitchFamily="18" charset="0"/>
                <a:cs typeface="Times New Roman" panose="02020603050405020304" pitchFamily="18" charset="0"/>
              </a:rPr>
              <a:t>đ</a:t>
            </a:r>
            <a:r>
              <a:rPr lang="en-US" altLang="en-US" dirty="0">
                <a:latin typeface="Times New Roman" panose="02020603050405020304" pitchFamily="18" charset="0"/>
                <a:cs typeface="Times New Roman" panose="02020603050405020304" pitchFamily="18" charset="0"/>
              </a:rPr>
              <a:t>ơn giản, trực quan, bài học ngắn – dễ hiểu, có giọng </a:t>
            </a:r>
            <a:r>
              <a:rPr lang="" altLang="en-US" dirty="0">
                <a:latin typeface="Times New Roman" panose="02020603050405020304" pitchFamily="18" charset="0"/>
                <a:cs typeface="Times New Roman" panose="02020603050405020304" pitchFamily="18" charset="0"/>
              </a:rPr>
              <a:t>đ</a:t>
            </a:r>
            <a:r>
              <a:rPr lang="en-US" altLang="en-US" dirty="0">
                <a:latin typeface="Times New Roman" panose="02020603050405020304" pitchFamily="18" charset="0"/>
                <a:cs typeface="Times New Roman" panose="02020603050405020304" pitchFamily="18" charset="0"/>
              </a:rPr>
              <a:t>ọc mẫu, phản hồi tức thì và lộ trình r</a:t>
            </a:r>
            <a:r>
              <a:rPr lang="" altLang="en-US" dirty="0">
                <a:latin typeface="Times New Roman" panose="02020603050405020304" pitchFamily="18" charset="0"/>
                <a:cs typeface="Times New Roman" panose="02020603050405020304" pitchFamily="18" charset="0"/>
              </a:rPr>
              <a:t>õ</a:t>
            </a:r>
            <a:r>
              <a:rPr lang="en-US" altLang="en-US" dirty="0">
                <a:latin typeface="Times New Roman" panose="02020603050405020304" pitchFamily="18" charset="0"/>
                <a:cs typeface="Times New Roman" panose="02020603050405020304" pitchFamily="18" charset="0"/>
              </a:rPr>
              <a:t> ràng, giúp học sinh tự tin hơn và duy trì thói quen học tiếng Anh hàng ngày.</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7"/>
            <a:ext cx="8229600" cy="1143000"/>
          </a:xfrm>
        </p:spPr>
        <p:txBody>
          <a:bodyPr/>
          <a:lstStyle/>
          <a:p>
            <a:r>
              <a:rPr lang="vi-VN" altLang="en-US" sz="3300"/>
              <a:t>CHƯƠNG III: KẾT QUẢ NGHIÊN CỨU</a:t>
            </a:r>
            <a:endParaRPr lang="vi-VN" altLang="en-US" sz="3300"/>
          </a:p>
        </p:txBody>
      </p:sp>
      <p:sp>
        <p:nvSpPr>
          <p:cNvPr id="5" name="TextBox 4"/>
          <p:cNvSpPr txBox="1"/>
          <p:nvPr/>
        </p:nvSpPr>
        <p:spPr>
          <a:xfrm>
            <a:off x="2330450" y="975242"/>
            <a:ext cx="4572000" cy="830997"/>
          </a:xfrm>
          <a:prstGeom prst="rect">
            <a:avLst/>
          </a:prstGeom>
          <a:noFill/>
        </p:spPr>
        <p:txBody>
          <a:bodyPr wrap="square">
            <a:spAutoFit/>
          </a:bodyPr>
          <a:lstStyle/>
          <a:p>
            <a:pPr algn="ctr"/>
            <a:r>
              <a:rPr lang="en-US" altLang="en-US" sz="2400" b="1" dirty="0">
                <a:latin typeface="Times New Roman" panose="02020603050405020304" pitchFamily="18" charset="0"/>
                <a:cs typeface="Times New Roman" panose="02020603050405020304" pitchFamily="18" charset="0"/>
              </a:rPr>
              <a:t>Giao </a:t>
            </a:r>
            <a:r>
              <a:rPr lang="en-US" altLang="en-US" sz="2400" b="1" dirty="0" err="1">
                <a:latin typeface="Times New Roman" panose="02020603050405020304" pitchFamily="18" charset="0"/>
                <a:cs typeface="Times New Roman" panose="02020603050405020304" pitchFamily="18" charset="0"/>
              </a:rPr>
              <a:t>diện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khi</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khởi</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động</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ứng</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dụng</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và</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giới</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thiệu</a:t>
            </a:r>
            <a:endParaRPr lang="en-US" altLang="en-US" sz="2400"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1"/>
          <a:stretch>
            <a:fillRect/>
          </a:stretch>
        </p:blipFill>
        <p:spPr>
          <a:xfrm>
            <a:off x="3931285" y="2430145"/>
            <a:ext cx="1505585" cy="2827020"/>
          </a:xfrm>
          <a:prstGeom prst="rect">
            <a:avLst/>
          </a:prstGeom>
        </p:spPr>
      </p:pic>
      <p:pic>
        <p:nvPicPr>
          <p:cNvPr id="6" name="Picture 5"/>
          <p:cNvPicPr>
            <a:picLocks noChangeAspect="1"/>
          </p:cNvPicPr>
          <p:nvPr/>
        </p:nvPicPr>
        <p:blipFill>
          <a:blip r:embed="rId2"/>
          <a:stretch>
            <a:fillRect/>
          </a:stretch>
        </p:blipFill>
        <p:spPr>
          <a:xfrm>
            <a:off x="5436870" y="2430145"/>
            <a:ext cx="1465580" cy="2827655"/>
          </a:xfrm>
          <a:prstGeom prst="rect">
            <a:avLst/>
          </a:prstGeom>
        </p:spPr>
      </p:pic>
      <p:pic>
        <p:nvPicPr>
          <p:cNvPr id="7" name="Picture 6"/>
          <p:cNvPicPr>
            <a:picLocks noChangeAspect="1"/>
          </p:cNvPicPr>
          <p:nvPr/>
        </p:nvPicPr>
        <p:blipFill>
          <a:blip r:embed="rId3"/>
          <a:stretch>
            <a:fillRect/>
          </a:stretch>
        </p:blipFill>
        <p:spPr>
          <a:xfrm>
            <a:off x="6902450" y="2430145"/>
            <a:ext cx="1463040" cy="2848610"/>
          </a:xfrm>
          <a:prstGeom prst="rect">
            <a:avLst/>
          </a:prstGeom>
        </p:spPr>
      </p:pic>
      <p:pic>
        <p:nvPicPr>
          <p:cNvPr id="9" name="Picture 8"/>
          <p:cNvPicPr>
            <a:picLocks noChangeAspect="1"/>
          </p:cNvPicPr>
          <p:nvPr/>
        </p:nvPicPr>
        <p:blipFill>
          <a:blip r:embed="rId4"/>
          <a:stretch>
            <a:fillRect/>
          </a:stretch>
        </p:blipFill>
        <p:spPr>
          <a:xfrm>
            <a:off x="732790" y="1731645"/>
            <a:ext cx="2143760" cy="41548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III: KẾT QUẢ NGHIÊN CỨU</a:t>
            </a:r>
            <a:endParaRPr lang="vi-VN" altLang="en-US" sz="3300"/>
          </a:p>
        </p:txBody>
      </p:sp>
      <p:sp>
        <p:nvSpPr>
          <p:cNvPr id="12" name="TextBox 11"/>
          <p:cNvSpPr txBox="1"/>
          <p:nvPr/>
        </p:nvSpPr>
        <p:spPr>
          <a:xfrm>
            <a:off x="2396067" y="1049655"/>
            <a:ext cx="4572000" cy="460375"/>
          </a:xfrm>
          <a:prstGeom prst="rect">
            <a:avLst/>
          </a:prstGeom>
          <a:noFill/>
        </p:spPr>
        <p:txBody>
          <a:bodyPr wrap="square">
            <a:spAutoFit/>
          </a:bodyPr>
          <a:lstStyle/>
          <a:p>
            <a:pPr algn="ctr"/>
            <a:r>
              <a:rPr lang="en-US" altLang="en-US" sz="2400" b="1" dirty="0" err="1">
                <a:latin typeface="Times New Roman" panose="02020603050405020304" pitchFamily="18" charset="0"/>
                <a:cs typeface="Times New Roman" panose="02020603050405020304" pitchFamily="18" charset="0"/>
              </a:rPr>
              <a:t>Màn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hình</a:t>
            </a:r>
            <a:r>
              <a:rPr lang="en-US" altLang="en-US" sz="2400" b="1" dirty="0">
                <a:latin typeface="Times New Roman" panose="02020603050405020304" pitchFamily="18" charset="0"/>
                <a:cs typeface="Times New Roman" panose="02020603050405020304" pitchFamily="18" charset="0"/>
              </a:rPr>
              <a:t> đăng ký </a:t>
            </a:r>
            <a:r>
              <a:rPr lang="en-US" altLang="en-US" sz="2400" b="1" dirty="0" err="1">
                <a:latin typeface="Times New Roman" panose="02020603050405020304" pitchFamily="18" charset="0"/>
                <a:cs typeface="Times New Roman" panose="02020603050405020304" pitchFamily="18" charset="0"/>
              </a:rPr>
              <a:t>người</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dùng</a:t>
            </a:r>
            <a:endParaRPr lang="en-US" altLang="en-US" sz="24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1142365" y="2272665"/>
            <a:ext cx="1508125" cy="3025140"/>
          </a:xfrm>
          <a:prstGeom prst="rect">
            <a:avLst/>
          </a:prstGeom>
        </p:spPr>
      </p:pic>
      <p:pic>
        <p:nvPicPr>
          <p:cNvPr id="4" name="Picture 3"/>
          <p:cNvPicPr>
            <a:picLocks noChangeAspect="1"/>
          </p:cNvPicPr>
          <p:nvPr/>
        </p:nvPicPr>
        <p:blipFill>
          <a:blip r:embed="rId2"/>
          <a:stretch>
            <a:fillRect/>
          </a:stretch>
        </p:blipFill>
        <p:spPr>
          <a:xfrm>
            <a:off x="3723005" y="2272665"/>
            <a:ext cx="1527810" cy="3060700"/>
          </a:xfrm>
          <a:prstGeom prst="rect">
            <a:avLst/>
          </a:prstGeom>
        </p:spPr>
      </p:pic>
      <p:pic>
        <p:nvPicPr>
          <p:cNvPr id="5" name="Picture 4"/>
          <p:cNvPicPr>
            <a:picLocks noChangeAspect="1"/>
          </p:cNvPicPr>
          <p:nvPr/>
        </p:nvPicPr>
        <p:blipFill>
          <a:blip r:embed="rId3"/>
          <a:stretch>
            <a:fillRect/>
          </a:stretch>
        </p:blipFill>
        <p:spPr>
          <a:xfrm>
            <a:off x="6398895" y="2233295"/>
            <a:ext cx="1633855" cy="30645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III: KẾT QUẢ NGHIÊN CỨU</a:t>
            </a:r>
            <a:endParaRPr lang="vi-VN" altLang="en-US" sz="3300"/>
          </a:p>
        </p:txBody>
      </p:sp>
      <p:sp>
        <p:nvSpPr>
          <p:cNvPr id="6" name="TextBox 5"/>
          <p:cNvSpPr txBox="1"/>
          <p:nvPr/>
        </p:nvSpPr>
        <p:spPr>
          <a:xfrm>
            <a:off x="2285999" y="960355"/>
            <a:ext cx="5139267" cy="829945"/>
          </a:xfrm>
          <a:prstGeom prst="rect">
            <a:avLst/>
          </a:prstGeom>
          <a:noFill/>
        </p:spPr>
        <p:txBody>
          <a:bodyPr wrap="square">
            <a:spAutoFit/>
          </a:bodyPr>
          <a:lstStyle/>
          <a:p>
            <a:pPr algn="ctr"/>
            <a:r>
              <a:rPr lang="vi-VN"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Màn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hình</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giao</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diện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chính</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và</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học từ vựng</a:t>
            </a:r>
            <a:endParaRPr lang="en-US" altLang="en-US" sz="24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696595" y="1645285"/>
            <a:ext cx="2200910" cy="4384040"/>
          </a:xfrm>
          <a:prstGeom prst="rect">
            <a:avLst/>
          </a:prstGeom>
        </p:spPr>
      </p:pic>
      <p:pic>
        <p:nvPicPr>
          <p:cNvPr id="4" name="Picture 3"/>
          <p:cNvPicPr>
            <a:picLocks noChangeAspect="1"/>
          </p:cNvPicPr>
          <p:nvPr/>
        </p:nvPicPr>
        <p:blipFill>
          <a:blip r:embed="rId2"/>
          <a:stretch>
            <a:fillRect/>
          </a:stretch>
        </p:blipFill>
        <p:spPr>
          <a:xfrm>
            <a:off x="3704590" y="2134235"/>
            <a:ext cx="1697355" cy="3466465"/>
          </a:xfrm>
          <a:prstGeom prst="rect">
            <a:avLst/>
          </a:prstGeom>
        </p:spPr>
      </p:pic>
      <p:pic>
        <p:nvPicPr>
          <p:cNvPr id="5" name="Picture 4"/>
          <p:cNvPicPr>
            <a:picLocks noChangeAspect="1"/>
          </p:cNvPicPr>
          <p:nvPr/>
        </p:nvPicPr>
        <p:blipFill>
          <a:blip r:embed="rId3"/>
          <a:stretch>
            <a:fillRect/>
          </a:stretch>
        </p:blipFill>
        <p:spPr>
          <a:xfrm>
            <a:off x="5401945" y="2139315"/>
            <a:ext cx="1746885" cy="3460750"/>
          </a:xfrm>
          <a:prstGeom prst="rect">
            <a:avLst/>
          </a:prstGeom>
        </p:spPr>
      </p:pic>
      <p:pic>
        <p:nvPicPr>
          <p:cNvPr id="7" name="Picture 6"/>
          <p:cNvPicPr>
            <a:picLocks noChangeAspect="1"/>
          </p:cNvPicPr>
          <p:nvPr/>
        </p:nvPicPr>
        <p:blipFill>
          <a:blip r:embed="rId4"/>
          <a:stretch>
            <a:fillRect/>
          </a:stretch>
        </p:blipFill>
        <p:spPr>
          <a:xfrm>
            <a:off x="7148830" y="2155190"/>
            <a:ext cx="1632585" cy="34277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III: KẾT QUẢ NGHIÊN CỨU</a:t>
            </a:r>
            <a:endParaRPr lang="vi-VN" altLang="en-US" sz="3300"/>
          </a:p>
        </p:txBody>
      </p:sp>
      <p:sp>
        <p:nvSpPr>
          <p:cNvPr id="18" name="TextBox 17"/>
          <p:cNvSpPr txBox="1"/>
          <p:nvPr/>
        </p:nvSpPr>
        <p:spPr>
          <a:xfrm>
            <a:off x="1887856" y="1001508"/>
            <a:ext cx="6028478" cy="461665"/>
          </a:xfrm>
          <a:prstGeom prst="rect">
            <a:avLst/>
          </a:prstGeom>
          <a:noFill/>
        </p:spPr>
        <p:txBody>
          <a:bodyPr wrap="square">
            <a:spAutoFit/>
          </a:bodyPr>
          <a:lstStyle/>
          <a:p>
            <a:pPr algn="ctr"/>
            <a:r>
              <a:rPr lang="en-US" altLang="en-US" sz="2400" b="1" dirty="0" err="1">
                <a:latin typeface="Times New Roman" panose="02020603050405020304" pitchFamily="18" charset="0"/>
                <a:cs typeface="Times New Roman" panose="02020603050405020304" pitchFamily="18" charset="0"/>
              </a:rPr>
              <a:t>Màn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hình</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chức</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năng</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luyện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nghe</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và</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luyện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nói</a:t>
            </a:r>
            <a:endParaRPr lang="en-US" altLang="en-US" sz="2400" b="1" dirty="0">
              <a:latin typeface="Times New Roman" panose="02020603050405020304" pitchFamily="18" charset="0"/>
              <a:cs typeface="Times New Roman" panose="02020603050405020304" pitchFamily="18" charset="0"/>
            </a:endParaRPr>
          </a:p>
        </p:txBody>
      </p:sp>
      <p:sp>
        <p:nvSpPr>
          <p:cNvPr id="20" name="TextBox 19"/>
          <p:cNvSpPr txBox="1"/>
          <p:nvPr/>
        </p:nvSpPr>
        <p:spPr>
          <a:xfrm>
            <a:off x="44450" y="4556667"/>
            <a:ext cx="4572000" cy="369332"/>
          </a:xfrm>
          <a:prstGeom prst="rect">
            <a:avLst/>
          </a:prstGeom>
          <a:noFill/>
        </p:spPr>
        <p:txBody>
          <a:bodyPr wrap="square">
            <a:spAutoFit/>
          </a:bodyPr>
          <a:lstStyle/>
          <a:p>
            <a:pPr algn="ctr"/>
            <a:r>
              <a:rPr lang="en-US" altLang="en-US" sz="1800" b="1" dirty="0" err="1">
                <a:latin typeface="Times New Roman" panose="02020603050405020304" pitchFamily="18" charset="0"/>
                <a:cs typeface="Times New Roman" panose="02020603050405020304" pitchFamily="18" charset="0"/>
              </a:rPr>
              <a:t>Chức</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năng</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luyện</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nghe</a:t>
            </a:r>
            <a:endParaRPr lang="en-US" altLang="en-US" sz="1800" b="1" dirty="0">
              <a:latin typeface="Times New Roman" panose="02020603050405020304" pitchFamily="18" charset="0"/>
              <a:cs typeface="Times New Roman" panose="02020603050405020304" pitchFamily="18" charset="0"/>
            </a:endParaRPr>
          </a:p>
        </p:txBody>
      </p:sp>
      <p:sp>
        <p:nvSpPr>
          <p:cNvPr id="21" name="TextBox 20"/>
          <p:cNvSpPr txBox="1"/>
          <p:nvPr/>
        </p:nvSpPr>
        <p:spPr>
          <a:xfrm>
            <a:off x="4677515" y="2864879"/>
            <a:ext cx="4572000" cy="369332"/>
          </a:xfrm>
          <a:prstGeom prst="rect">
            <a:avLst/>
          </a:prstGeom>
          <a:noFill/>
        </p:spPr>
        <p:txBody>
          <a:bodyPr wrap="square">
            <a:spAutoFit/>
          </a:bodyPr>
          <a:lstStyle/>
          <a:p>
            <a:pPr algn="ctr"/>
            <a:r>
              <a:rPr lang="en-US" altLang="en-US" sz="1800" b="1" dirty="0" err="1">
                <a:latin typeface="Times New Roman" panose="02020603050405020304" pitchFamily="18" charset="0"/>
                <a:cs typeface="Times New Roman" panose="02020603050405020304" pitchFamily="18" charset="0"/>
              </a:rPr>
              <a:t>Chức</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năng</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luyện</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nói</a:t>
            </a:r>
            <a:endParaRPr lang="en-US" altLang="en-US" sz="1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1"/>
          <a:stretch>
            <a:fillRect/>
          </a:stretch>
        </p:blipFill>
        <p:spPr>
          <a:xfrm>
            <a:off x="831850" y="1635125"/>
            <a:ext cx="1368425" cy="2749550"/>
          </a:xfrm>
          <a:prstGeom prst="rect">
            <a:avLst/>
          </a:prstGeom>
        </p:spPr>
      </p:pic>
      <p:pic>
        <p:nvPicPr>
          <p:cNvPr id="4" name="Picture 3"/>
          <p:cNvPicPr>
            <a:picLocks noChangeAspect="1"/>
          </p:cNvPicPr>
          <p:nvPr/>
        </p:nvPicPr>
        <p:blipFill>
          <a:blip r:embed="rId2"/>
          <a:stretch>
            <a:fillRect/>
          </a:stretch>
        </p:blipFill>
        <p:spPr>
          <a:xfrm>
            <a:off x="2316480" y="1646555"/>
            <a:ext cx="1392555" cy="2762885"/>
          </a:xfrm>
          <a:prstGeom prst="rect">
            <a:avLst/>
          </a:prstGeom>
        </p:spPr>
      </p:pic>
      <p:pic>
        <p:nvPicPr>
          <p:cNvPr id="5" name="Picture 4"/>
          <p:cNvPicPr>
            <a:picLocks noChangeAspect="1"/>
          </p:cNvPicPr>
          <p:nvPr/>
        </p:nvPicPr>
        <p:blipFill>
          <a:blip r:embed="rId2"/>
          <a:stretch>
            <a:fillRect/>
          </a:stretch>
        </p:blipFill>
        <p:spPr>
          <a:xfrm>
            <a:off x="4840605" y="3403600"/>
            <a:ext cx="1409065" cy="2795270"/>
          </a:xfrm>
          <a:prstGeom prst="rect">
            <a:avLst/>
          </a:prstGeom>
        </p:spPr>
      </p:pic>
      <p:pic>
        <p:nvPicPr>
          <p:cNvPr id="7" name="Picture 6"/>
          <p:cNvPicPr>
            <a:picLocks noChangeAspect="1"/>
          </p:cNvPicPr>
          <p:nvPr/>
        </p:nvPicPr>
        <p:blipFill>
          <a:blip r:embed="rId3"/>
          <a:stretch>
            <a:fillRect/>
          </a:stretch>
        </p:blipFill>
        <p:spPr>
          <a:xfrm>
            <a:off x="6249670" y="3403600"/>
            <a:ext cx="1443990" cy="2821940"/>
          </a:xfrm>
          <a:prstGeom prst="rect">
            <a:avLst/>
          </a:prstGeom>
        </p:spPr>
      </p:pic>
      <p:pic>
        <p:nvPicPr>
          <p:cNvPr id="9" name="Picture 8"/>
          <p:cNvPicPr>
            <a:picLocks noChangeAspect="1"/>
          </p:cNvPicPr>
          <p:nvPr/>
        </p:nvPicPr>
        <p:blipFill>
          <a:blip r:embed="rId4"/>
          <a:stretch>
            <a:fillRect/>
          </a:stretch>
        </p:blipFill>
        <p:spPr>
          <a:xfrm>
            <a:off x="7693660" y="3403600"/>
            <a:ext cx="1390015" cy="28435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III: KẾT QUẢ NGHIÊN CỨU</a:t>
            </a:r>
            <a:endParaRPr lang="vi-VN" altLang="en-US" sz="3300"/>
          </a:p>
        </p:txBody>
      </p:sp>
      <p:sp>
        <p:nvSpPr>
          <p:cNvPr id="18" name="TextBox 17"/>
          <p:cNvSpPr txBox="1"/>
          <p:nvPr/>
        </p:nvSpPr>
        <p:spPr>
          <a:xfrm>
            <a:off x="1540722" y="1001508"/>
            <a:ext cx="6748144" cy="460375"/>
          </a:xfrm>
          <a:prstGeom prst="rect">
            <a:avLst/>
          </a:prstGeom>
          <a:noFill/>
        </p:spPr>
        <p:txBody>
          <a:bodyPr wrap="square">
            <a:spAutoFit/>
          </a:bodyPr>
          <a:lstStyle/>
          <a:p>
            <a:pPr algn="ctr"/>
            <a:r>
              <a:rPr lang="en-US" altLang="en-US" sz="2400" b="1" dirty="0" err="1">
                <a:latin typeface="Times New Roman" panose="02020603050405020304" pitchFamily="18" charset="0"/>
                <a:cs typeface="Times New Roman" panose="02020603050405020304" pitchFamily="18" charset="0"/>
              </a:rPr>
              <a:t>Màn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hình</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chức</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năng</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trắc nghiệm và luyện viết</a:t>
            </a:r>
            <a:endParaRPr lang="en-US" altLang="en-US" sz="2400" b="1" dirty="0">
              <a:latin typeface="Times New Roman" panose="02020603050405020304" pitchFamily="18" charset="0"/>
              <a:cs typeface="Times New Roman" panose="02020603050405020304" pitchFamily="18" charset="0"/>
            </a:endParaRPr>
          </a:p>
        </p:txBody>
      </p:sp>
      <p:sp>
        <p:nvSpPr>
          <p:cNvPr id="20" name="TextBox 19"/>
          <p:cNvSpPr txBox="1"/>
          <p:nvPr>
            <p:custDataLst>
              <p:tags r:id="rId1"/>
            </p:custDataLst>
          </p:nvPr>
        </p:nvSpPr>
        <p:spPr>
          <a:xfrm>
            <a:off x="189296" y="4755301"/>
            <a:ext cx="4572000" cy="368300"/>
          </a:xfrm>
          <a:prstGeom prst="rect">
            <a:avLst/>
          </a:prstGeom>
          <a:noFill/>
        </p:spPr>
        <p:txBody>
          <a:bodyPr wrap="square">
            <a:spAutoFit/>
          </a:bodyPr>
          <a:lstStyle/>
          <a:p>
            <a:pPr algn="ctr"/>
            <a:r>
              <a:rPr lang="en-US" altLang="en-US" sz="1800" b="1" dirty="0" err="1">
                <a:latin typeface="Times New Roman" panose="02020603050405020304" pitchFamily="18" charset="0"/>
                <a:cs typeface="Times New Roman" panose="02020603050405020304" pitchFamily="18" charset="0"/>
              </a:rPr>
              <a:t>Chức</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năng</a:t>
            </a:r>
            <a:r>
              <a:rPr lang="en-US" altLang="en-US" sz="1800" b="1" dirty="0">
                <a:latin typeface="Times New Roman" panose="02020603050405020304" pitchFamily="18" charset="0"/>
                <a:cs typeface="Times New Roman" panose="02020603050405020304" pitchFamily="18" charset="0"/>
              </a:rPr>
              <a:t> làm trắc nghiệm</a:t>
            </a:r>
            <a:endParaRPr lang="en-US" altLang="en-US" sz="1800" b="1" dirty="0">
              <a:latin typeface="Times New Roman" panose="02020603050405020304" pitchFamily="18" charset="0"/>
              <a:cs typeface="Times New Roman" panose="02020603050405020304" pitchFamily="18" charset="0"/>
            </a:endParaRPr>
          </a:p>
        </p:txBody>
      </p:sp>
      <p:sp>
        <p:nvSpPr>
          <p:cNvPr id="21" name="TextBox 20"/>
          <p:cNvSpPr txBox="1"/>
          <p:nvPr>
            <p:custDataLst>
              <p:tags r:id="rId2"/>
            </p:custDataLst>
          </p:nvPr>
        </p:nvSpPr>
        <p:spPr>
          <a:xfrm>
            <a:off x="5874385" y="4757420"/>
            <a:ext cx="3169285" cy="368300"/>
          </a:xfrm>
          <a:prstGeom prst="rect">
            <a:avLst/>
          </a:prstGeom>
          <a:noFill/>
        </p:spPr>
        <p:txBody>
          <a:bodyPr wrap="square">
            <a:spAutoFit/>
          </a:bodyPr>
          <a:lstStyle/>
          <a:p>
            <a:pPr algn="ctr"/>
            <a:r>
              <a:rPr lang="en-US" altLang="en-US" sz="1800" b="1" dirty="0" err="1">
                <a:latin typeface="Times New Roman" panose="02020603050405020304" pitchFamily="18" charset="0"/>
                <a:cs typeface="Times New Roman" panose="02020603050405020304" pitchFamily="18" charset="0"/>
              </a:rPr>
              <a:t>Chức</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năng</a:t>
            </a:r>
            <a:r>
              <a:rPr lang="en-US" altLang="en-US" sz="1800" b="1" dirty="0">
                <a:latin typeface="Times New Roman" panose="02020603050405020304" pitchFamily="18" charset="0"/>
                <a:cs typeface="Times New Roman" panose="02020603050405020304" pitchFamily="18" charset="0"/>
              </a:rPr>
              <a:t> luyện viết</a:t>
            </a:r>
            <a:endParaRPr lang="en-US" altLang="en-US" sz="1800" b="1"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189230" y="1656715"/>
            <a:ext cx="1452880" cy="2881630"/>
          </a:xfrm>
          <a:prstGeom prst="rect">
            <a:avLst/>
          </a:prstGeom>
        </p:spPr>
      </p:pic>
      <p:pic>
        <p:nvPicPr>
          <p:cNvPr id="5" name="Picture 4"/>
          <p:cNvPicPr>
            <a:picLocks noChangeAspect="1"/>
          </p:cNvPicPr>
          <p:nvPr/>
        </p:nvPicPr>
        <p:blipFill>
          <a:blip r:embed="rId4"/>
          <a:stretch>
            <a:fillRect/>
          </a:stretch>
        </p:blipFill>
        <p:spPr>
          <a:xfrm>
            <a:off x="1642110" y="1656715"/>
            <a:ext cx="1434465" cy="2869565"/>
          </a:xfrm>
          <a:prstGeom prst="rect">
            <a:avLst/>
          </a:prstGeom>
        </p:spPr>
      </p:pic>
      <p:pic>
        <p:nvPicPr>
          <p:cNvPr id="6" name="Picture 5"/>
          <p:cNvPicPr>
            <a:picLocks noChangeAspect="1"/>
          </p:cNvPicPr>
          <p:nvPr/>
        </p:nvPicPr>
        <p:blipFill>
          <a:blip r:embed="rId5"/>
          <a:stretch>
            <a:fillRect/>
          </a:stretch>
        </p:blipFill>
        <p:spPr>
          <a:xfrm>
            <a:off x="3071495" y="1682750"/>
            <a:ext cx="1411605" cy="2851785"/>
          </a:xfrm>
          <a:prstGeom prst="rect">
            <a:avLst/>
          </a:prstGeom>
        </p:spPr>
      </p:pic>
      <p:pic>
        <p:nvPicPr>
          <p:cNvPr id="8" name="Picture 7"/>
          <p:cNvPicPr>
            <a:picLocks noChangeAspect="1"/>
          </p:cNvPicPr>
          <p:nvPr/>
        </p:nvPicPr>
        <p:blipFill>
          <a:blip r:embed="rId6"/>
          <a:stretch>
            <a:fillRect/>
          </a:stretch>
        </p:blipFill>
        <p:spPr>
          <a:xfrm>
            <a:off x="6116320" y="1682750"/>
            <a:ext cx="1382395" cy="2853690"/>
          </a:xfrm>
          <a:prstGeom prst="rect">
            <a:avLst/>
          </a:prstGeom>
        </p:spPr>
      </p:pic>
      <p:pic>
        <p:nvPicPr>
          <p:cNvPr id="9" name="Picture 8"/>
          <p:cNvPicPr>
            <a:picLocks noChangeAspect="1"/>
          </p:cNvPicPr>
          <p:nvPr/>
        </p:nvPicPr>
        <p:blipFill>
          <a:blip r:embed="rId7"/>
          <a:stretch>
            <a:fillRect/>
          </a:stretch>
        </p:blipFill>
        <p:spPr>
          <a:xfrm>
            <a:off x="7498715" y="1682750"/>
            <a:ext cx="1395730" cy="28562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dirty="0"/>
              <a:t>CHƯƠNG IV: THẢO LUẬN KẾT QUẢ </a:t>
            </a:r>
            <a:endParaRPr lang="vi-VN" altLang="en-US" sz="3300" dirty="0"/>
          </a:p>
        </p:txBody>
      </p:sp>
      <p:sp>
        <p:nvSpPr>
          <p:cNvPr id="5" name="TextBox 4"/>
          <p:cNvSpPr txBox="1"/>
          <p:nvPr/>
        </p:nvSpPr>
        <p:spPr>
          <a:xfrm>
            <a:off x="189230" y="947846"/>
            <a:ext cx="8954770" cy="5400675"/>
          </a:xfrm>
          <a:prstGeom prst="rect">
            <a:avLst/>
          </a:prstGeom>
          <a:noFill/>
        </p:spPr>
        <p:txBody>
          <a:bodyPr wrap="square">
            <a:spAutoFit/>
          </a:bodyPr>
          <a:lstStyle/>
          <a:p>
            <a:pPr>
              <a:buNone/>
            </a:pPr>
            <a:r>
              <a:rPr lang="en-US" sz="2300" b="1" dirty="0" err="1">
                <a:latin typeface="Times New Roman" panose="02020603050405020304" pitchFamily="18" charset="0"/>
                <a:cs typeface="Times New Roman" panose="02020603050405020304" pitchFamily="18" charset="0"/>
              </a:rPr>
              <a:t>Kết</a:t>
            </a:r>
            <a:r>
              <a:rPr lang="en-US" sz="2300" b="1" dirty="0">
                <a:latin typeface="Times New Roman" panose="02020603050405020304" pitchFamily="18" charset="0"/>
                <a:cs typeface="Times New Roman" panose="02020603050405020304" pitchFamily="18" charset="0"/>
              </a:rPr>
              <a:t> </a:t>
            </a:r>
            <a:r>
              <a:rPr lang="en-US" sz="2300" b="1" dirty="0" err="1">
                <a:latin typeface="Times New Roman" panose="02020603050405020304" pitchFamily="18" charset="0"/>
                <a:cs typeface="Times New Roman" panose="02020603050405020304" pitchFamily="18" charset="0"/>
              </a:rPr>
              <a:t>quả</a:t>
            </a:r>
            <a:r>
              <a:rPr lang="en-US" sz="2300" b="1" dirty="0">
                <a:latin typeface="Times New Roman" panose="02020603050405020304" pitchFamily="18" charset="0"/>
                <a:cs typeface="Times New Roman" panose="02020603050405020304" pitchFamily="18" charset="0"/>
              </a:rPr>
              <a:t> </a:t>
            </a:r>
            <a:r>
              <a:rPr lang="en-US" sz="2300" b="1" dirty="0" err="1">
                <a:latin typeface="Times New Roman" panose="02020603050405020304" pitchFamily="18" charset="0"/>
                <a:cs typeface="Times New Roman" panose="02020603050405020304" pitchFamily="18" charset="0"/>
              </a:rPr>
              <a:t>đánh</a:t>
            </a:r>
            <a:r>
              <a:rPr lang="en-US" sz="2300" b="1" dirty="0">
                <a:latin typeface="Times New Roman" panose="02020603050405020304" pitchFamily="18" charset="0"/>
                <a:cs typeface="Times New Roman" panose="02020603050405020304" pitchFamily="18" charset="0"/>
              </a:rPr>
              <a:t> </a:t>
            </a:r>
            <a:r>
              <a:rPr lang="en-US" sz="2300" b="1" dirty="0" err="1">
                <a:latin typeface="Times New Roman" panose="02020603050405020304" pitchFamily="18" charset="0"/>
                <a:cs typeface="Times New Roman" panose="02020603050405020304" pitchFamily="18" charset="0"/>
              </a:rPr>
              <a:t>giá</a:t>
            </a:r>
            <a:endParaRPr lang="vi-VN" sz="2300" b="1" dirty="0">
              <a:latin typeface="Times New Roman" panose="02020603050405020304" pitchFamily="18" charset="0"/>
              <a:cs typeface="Times New Roman" panose="02020603050405020304" pitchFamily="18" charset="0"/>
            </a:endParaRPr>
          </a:p>
          <a:p>
            <a:pPr>
              <a:buNone/>
            </a:pPr>
            <a:r>
              <a:rPr lang="en-US" sz="2300" dirty="0">
                <a:latin typeface="Times New Roman" panose="02020603050405020304" pitchFamily="18" charset="0"/>
                <a:cs typeface="Times New Roman" panose="02020603050405020304" pitchFamily="18" charset="0"/>
              </a:rPr>
              <a:t>	</a:t>
            </a:r>
            <a:r>
              <a:rPr lang="en-US" altLang="en-US" sz="2300" dirty="0">
                <a:latin typeface="Times New Roman" panose="02020603050405020304" pitchFamily="18" charset="0"/>
                <a:cs typeface="Times New Roman" panose="02020603050405020304" pitchFamily="18" charset="0"/>
              </a:rPr>
              <a:t>Qua quá trình thiết kế và thử nghiệm với phiên bản hi-fi prototype, ứng dụng Trợ l</a:t>
            </a:r>
            <a:r>
              <a:rPr lang="" altLang="en-US" sz="2300" dirty="0">
                <a:latin typeface="Times New Roman" panose="02020603050405020304" pitchFamily="18" charset="0"/>
                <a:cs typeface="Times New Roman" panose="02020603050405020304" pitchFamily="18" charset="0"/>
              </a:rPr>
              <a:t>ý</a:t>
            </a:r>
            <a:r>
              <a:rPr lang="en-US" altLang="en-US" sz="2300" dirty="0">
                <a:latin typeface="Times New Roman" panose="02020603050405020304" pitchFamily="18" charset="0"/>
                <a:cs typeface="Times New Roman" panose="02020603050405020304" pitchFamily="18" charset="0"/>
              </a:rPr>
              <a:t> AI hỗ trợ học sinh THPT học tiếng Anh </a:t>
            </a:r>
            <a:r>
              <a:rPr lang="" altLang="en-US" sz="2300" dirty="0">
                <a:latin typeface="Times New Roman" panose="02020603050405020304" pitchFamily="18" charset="0"/>
                <a:cs typeface="Times New Roman" panose="02020603050405020304" pitchFamily="18" charset="0"/>
              </a:rPr>
              <a:t>đ</a:t>
            </a:r>
            <a:r>
              <a:rPr lang="en-US" altLang="en-US" sz="2300" dirty="0">
                <a:latin typeface="Times New Roman" panose="02020603050405020304" pitchFamily="18" charset="0"/>
                <a:cs typeface="Times New Roman" panose="02020603050405020304" pitchFamily="18" charset="0"/>
              </a:rPr>
              <a:t>ã cho thấy những kết quả rất tích cực. Kiểm thử khả dụng với 3 học sinh tham gia cho thấy</a:t>
            </a:r>
            <a:r>
              <a:rPr lang="vi-VN" sz="2300" dirty="0">
                <a:latin typeface="Times New Roman" panose="02020603050405020304" pitchFamily="18" charset="0"/>
                <a:cs typeface="Times New Roman" panose="02020603050405020304" pitchFamily="18" charset="0"/>
              </a:rPr>
              <a:t>:</a:t>
            </a:r>
            <a:endParaRPr lang="vi-VN" sz="23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vi-VN" sz="2300" b="1" dirty="0">
                <a:latin typeface="Times New Roman" panose="02020603050405020304" pitchFamily="18" charset="0"/>
                <a:cs typeface="Times New Roman" panose="02020603050405020304" pitchFamily="18" charset="0"/>
              </a:rPr>
              <a:t>Tỷ lệ hoàn thành tác vụ đạt 100%</a:t>
            </a:r>
            <a:r>
              <a:rPr lang="vi-VN" sz="2300" dirty="0">
                <a:latin typeface="Times New Roman" panose="02020603050405020304" pitchFamily="18" charset="0"/>
                <a:cs typeface="Times New Roman" panose="02020603050405020304" pitchFamily="18" charset="0"/>
              </a:rPr>
              <a:t> trên toàn bộ các chức năng cốt lõi.</a:t>
            </a:r>
            <a:endParaRPr lang="vi-VN" sz="23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vi-VN" sz="2300" b="1" dirty="0">
                <a:latin typeface="Times New Roman" panose="02020603050405020304" pitchFamily="18" charset="0"/>
                <a:cs typeface="Times New Roman" panose="02020603050405020304" pitchFamily="18" charset="0"/>
              </a:rPr>
              <a:t>Thời gian thực hiện tác vụ</a:t>
            </a:r>
            <a:r>
              <a:rPr lang="vi-VN" sz="2300" dirty="0">
                <a:latin typeface="Times New Roman" panose="02020603050405020304" pitchFamily="18" charset="0"/>
                <a:cs typeface="Times New Roman" panose="02020603050405020304" pitchFamily="18" charset="0"/>
              </a:rPr>
              <a:t> </a:t>
            </a:r>
            <a:r>
              <a:rPr lang="en-US" altLang="en-US" sz="2300" dirty="0">
                <a:latin typeface="Times New Roman" panose="02020603050405020304" pitchFamily="18" charset="0"/>
                <a:cs typeface="Times New Roman" panose="02020603050405020304" pitchFamily="18" charset="0"/>
              </a:rPr>
              <a:t>nằm trong khoảng từ vài giây </a:t>
            </a:r>
            <a:r>
              <a:rPr lang="" altLang="en-US" sz="2300" dirty="0">
                <a:latin typeface="Times New Roman" panose="02020603050405020304" pitchFamily="18" charset="0"/>
                <a:cs typeface="Times New Roman" panose="02020603050405020304" pitchFamily="18" charset="0"/>
              </a:rPr>
              <a:t>đ</a:t>
            </a:r>
            <a:r>
              <a:rPr lang="en-US" altLang="en-US" sz="2300" dirty="0">
                <a:latin typeface="Times New Roman" panose="02020603050405020304" pitchFamily="18" charset="0"/>
                <a:cs typeface="Times New Roman" panose="02020603050405020304" pitchFamily="18" charset="0"/>
              </a:rPr>
              <a:t>ến vài phút, tùy theo mức </a:t>
            </a:r>
            <a:r>
              <a:rPr lang="" altLang="en-US" sz="2300" dirty="0">
                <a:latin typeface="Times New Roman" panose="02020603050405020304" pitchFamily="18" charset="0"/>
                <a:cs typeface="Times New Roman" panose="02020603050405020304" pitchFamily="18" charset="0"/>
              </a:rPr>
              <a:t>đ</a:t>
            </a:r>
            <a:r>
              <a:rPr lang="en-US" altLang="en-US" sz="2300" dirty="0">
                <a:latin typeface="Times New Roman" panose="02020603050405020304" pitchFamily="18" charset="0"/>
                <a:cs typeface="Times New Roman" panose="02020603050405020304" pitchFamily="18" charset="0"/>
              </a:rPr>
              <a:t>ộ phức tạp (ví dụ: trả lời câu hỏi trắc nghiệm rất nhanh, trong khi luyện nghe hoặc luyện nói cần nhiều thao tác hơn).</a:t>
            </a:r>
            <a:endParaRPr lang="en-US" altLang="en-US" sz="23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300" dirty="0">
                <a:latin typeface="Times New Roman" panose="02020603050405020304" pitchFamily="18" charset="0"/>
                <a:cs typeface="Times New Roman" panose="02020603050405020304" pitchFamily="18" charset="0"/>
              </a:rPr>
              <a:t>Ng</a:t>
            </a:r>
            <a:r>
              <a:rPr lang="" altLang="en-US" sz="2300" dirty="0">
                <a:latin typeface="Times New Roman" panose="02020603050405020304" pitchFamily="18" charset="0"/>
                <a:cs typeface="Times New Roman" panose="02020603050405020304" pitchFamily="18" charset="0"/>
              </a:rPr>
              <a:t>ư</a:t>
            </a:r>
            <a:r>
              <a:rPr lang="en-US" altLang="en-US" sz="2300" dirty="0">
                <a:latin typeface="Times New Roman" panose="02020603050405020304" pitchFamily="18" charset="0"/>
                <a:cs typeface="Times New Roman" panose="02020603050405020304" pitchFamily="18" charset="0"/>
              </a:rPr>
              <a:t>ời dùng </a:t>
            </a:r>
            <a:r>
              <a:rPr lang="" altLang="en-US" sz="2300" dirty="0">
                <a:latin typeface="Times New Roman" panose="02020603050405020304" pitchFamily="18" charset="0"/>
                <a:cs typeface="Times New Roman" panose="02020603050405020304" pitchFamily="18" charset="0"/>
              </a:rPr>
              <a:t>đ</a:t>
            </a:r>
            <a:r>
              <a:rPr lang="en-US" altLang="en-US" sz="2300" dirty="0">
                <a:latin typeface="Times New Roman" panose="02020603050405020304" pitchFamily="18" charset="0"/>
                <a:cs typeface="Times New Roman" panose="02020603050405020304" pitchFamily="18" charset="0"/>
              </a:rPr>
              <a:t>ánh giá giao diện trực quan, dễ hiểu, dễ thao tác, phù hợp với thói quen sử dụng ứng dụng của học sinh THPT.</a:t>
            </a:r>
            <a:endParaRPr lang="en-US" altLang="en-US" sz="23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altLang="en-US" sz="2300" dirty="0">
                <a:latin typeface="Times New Roman" panose="02020603050405020304" pitchFamily="18" charset="0"/>
                <a:cs typeface="Times New Roman" panose="02020603050405020304" pitchFamily="18" charset="0"/>
              </a:rPr>
              <a:t>Không ghi nhận lỗi nghiêm trọng hay </a:t>
            </a:r>
            <a:r>
              <a:rPr lang="" altLang="en-US" sz="2300" dirty="0">
                <a:latin typeface="Times New Roman" panose="02020603050405020304" pitchFamily="18" charset="0"/>
                <a:cs typeface="Times New Roman" panose="02020603050405020304" pitchFamily="18" charset="0"/>
              </a:rPr>
              <a:t>đ</a:t>
            </a:r>
            <a:r>
              <a:rPr lang="en-US" altLang="en-US" sz="2300" dirty="0">
                <a:latin typeface="Times New Roman" panose="02020603050405020304" pitchFamily="18" charset="0"/>
                <a:cs typeface="Times New Roman" panose="02020603050405020304" pitchFamily="18" charset="0"/>
              </a:rPr>
              <a:t>iểm nghẽn trong luồng t</a:t>
            </a:r>
            <a:r>
              <a:rPr lang="" altLang="en-US" sz="2300" dirty="0">
                <a:latin typeface="Times New Roman" panose="02020603050405020304" pitchFamily="18" charset="0"/>
                <a:cs typeface="Times New Roman" panose="02020603050405020304" pitchFamily="18" charset="0"/>
              </a:rPr>
              <a:t>ư</a:t>
            </a:r>
            <a:r>
              <a:rPr lang="en-US" altLang="en-US" sz="2300" dirty="0">
                <a:latin typeface="Times New Roman" panose="02020603050405020304" pitchFamily="18" charset="0"/>
                <a:cs typeface="Times New Roman" panose="02020603050405020304" pitchFamily="18" charset="0"/>
              </a:rPr>
              <a:t>ơng tác; chỉ xuất hiện một vài khó kh</a:t>
            </a:r>
            <a:r>
              <a:rPr lang="" altLang="en-US" sz="2300" dirty="0">
                <a:latin typeface="Times New Roman" panose="02020603050405020304" pitchFamily="18" charset="0"/>
                <a:cs typeface="Times New Roman" panose="02020603050405020304" pitchFamily="18" charset="0"/>
              </a:rPr>
              <a:t>ă</a:t>
            </a:r>
            <a:r>
              <a:rPr lang="en-US" altLang="en-US" sz="2300" dirty="0">
                <a:latin typeface="Times New Roman" panose="02020603050405020304" pitchFamily="18" charset="0"/>
                <a:cs typeface="Times New Roman" panose="02020603050405020304" pitchFamily="18" charset="0"/>
              </a:rPr>
              <a:t>n nhỏ (nh</a:t>
            </a:r>
            <a:r>
              <a:rPr lang="" altLang="en-US" sz="2300" dirty="0">
                <a:latin typeface="Times New Roman" panose="02020603050405020304" pitchFamily="18" charset="0"/>
                <a:cs typeface="Times New Roman" panose="02020603050405020304" pitchFamily="18" charset="0"/>
              </a:rPr>
              <a:t>ư</a:t>
            </a:r>
            <a:r>
              <a:rPr lang="en-US" altLang="en-US" sz="2300" dirty="0">
                <a:latin typeface="Times New Roman" panose="02020603050405020304" pitchFamily="18" charset="0"/>
                <a:cs typeface="Times New Roman" panose="02020603050405020304" pitchFamily="18" charset="0"/>
              </a:rPr>
              <a:t> cần làm nổi bật nút tiếp tục hoặc t</a:t>
            </a:r>
            <a:r>
              <a:rPr lang="" altLang="en-US" sz="2300" dirty="0">
                <a:latin typeface="Times New Roman" panose="02020603050405020304" pitchFamily="18" charset="0"/>
                <a:cs typeface="Times New Roman" panose="02020603050405020304" pitchFamily="18" charset="0"/>
              </a:rPr>
              <a:t>ă</a:t>
            </a:r>
            <a:r>
              <a:rPr lang="en-US" altLang="en-US" sz="2300" dirty="0">
                <a:latin typeface="Times New Roman" panose="02020603050405020304" pitchFamily="18" charset="0"/>
                <a:cs typeface="Times New Roman" panose="02020603050405020304" pitchFamily="18" charset="0"/>
              </a:rPr>
              <a:t>ng </a:t>
            </a:r>
            <a:r>
              <a:rPr lang="" altLang="en-US" sz="2300" dirty="0">
                <a:latin typeface="Times New Roman" panose="02020603050405020304" pitchFamily="18" charset="0"/>
                <a:cs typeface="Times New Roman" panose="02020603050405020304" pitchFamily="18" charset="0"/>
              </a:rPr>
              <a:t>đ</a:t>
            </a:r>
            <a:r>
              <a:rPr lang="en-US" altLang="en-US" sz="2300" dirty="0">
                <a:latin typeface="Times New Roman" panose="02020603050405020304" pitchFamily="18" charset="0"/>
                <a:cs typeface="Times New Roman" panose="02020603050405020304" pitchFamily="18" charset="0"/>
              </a:rPr>
              <a:t>ộ t</a:t>
            </a:r>
            <a:r>
              <a:rPr lang="" altLang="en-US" sz="2300" dirty="0">
                <a:latin typeface="Times New Roman" panose="02020603050405020304" pitchFamily="18" charset="0"/>
                <a:cs typeface="Times New Roman" panose="02020603050405020304" pitchFamily="18" charset="0"/>
              </a:rPr>
              <a:t>ư</a:t>
            </a:r>
            <a:r>
              <a:rPr lang="en-US" altLang="en-US" sz="2300" dirty="0">
                <a:latin typeface="Times New Roman" panose="02020603050405020304" pitchFamily="18" charset="0"/>
                <a:cs typeface="Times New Roman" panose="02020603050405020304" pitchFamily="18" charset="0"/>
              </a:rPr>
              <a:t>ơng phản ở một số màn hình), và hoàn toàn có thể cải thiện ở các phiên bản sau.</a:t>
            </a:r>
            <a:endParaRPr lang="en-US" altLang="en-US" sz="23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a:t>CHƯƠNG V: </a:t>
            </a:r>
            <a:r>
              <a:rPr lang="vi-VN" altLang="en-US" sz="3300">
                <a:sym typeface="+mn-ea"/>
              </a:rPr>
              <a:t>KẾT</a:t>
            </a:r>
            <a:r>
              <a:rPr lang="vi-VN" altLang="en-US" sz="3300"/>
              <a:t> LUẬN   </a:t>
            </a:r>
            <a:endParaRPr lang="vi-VN" altLang="en-US" sz="3300"/>
          </a:p>
        </p:txBody>
      </p:sp>
      <p:sp>
        <p:nvSpPr>
          <p:cNvPr id="5" name="TextBox 4"/>
          <p:cNvSpPr txBox="1"/>
          <p:nvPr/>
        </p:nvSpPr>
        <p:spPr>
          <a:xfrm>
            <a:off x="88900" y="959485"/>
            <a:ext cx="8765540" cy="2703830"/>
          </a:xfrm>
          <a:prstGeom prst="rect">
            <a:avLst/>
          </a:prstGeom>
          <a:noFill/>
        </p:spPr>
        <p:txBody>
          <a:bodyPr wrap="square">
            <a:noAutofit/>
          </a:bodyPr>
          <a:lstStyle/>
          <a:p>
            <a:pPr algn="l"/>
            <a:r>
              <a:rPr lang="vi-VN" sz="2400" b="1" dirty="0">
                <a:latin typeface="+mj-lt"/>
              </a:rPr>
              <a:t>Kết luận:</a:t>
            </a:r>
            <a:br>
              <a:rPr lang="vi-VN" sz="2400" dirty="0">
                <a:latin typeface="+mj-lt"/>
              </a:rPr>
            </a:br>
            <a:r>
              <a:rPr lang="en-US" sz="2400" dirty="0">
                <a:latin typeface="+mj-lt"/>
              </a:rPr>
              <a:t>	</a:t>
            </a:r>
            <a:r>
              <a:rPr lang="" altLang="en-US" sz="2200" dirty="0">
                <a:latin typeface="+mj-lt"/>
              </a:rPr>
              <a:t>Đ</a:t>
            </a:r>
            <a:r>
              <a:rPr lang="en-US" altLang="en-US" sz="2200" dirty="0">
                <a:latin typeface="+mj-lt"/>
              </a:rPr>
              <a:t>ề tài chứng minh tính khả thi của Trợ l</a:t>
            </a:r>
            <a:r>
              <a:rPr lang="" altLang="en-US" sz="2200" dirty="0">
                <a:latin typeface="+mj-lt"/>
              </a:rPr>
              <a:t>ý</a:t>
            </a:r>
            <a:r>
              <a:rPr lang="en-US" altLang="en-US" sz="2200" dirty="0">
                <a:latin typeface="+mj-lt"/>
              </a:rPr>
              <a:t> AI dành cho học sinh THPT học tiếng Anh. Ứng dụng dễ sử dụng, hỗ trợ học tập hiệu quả và giải quyết </a:t>
            </a:r>
            <a:r>
              <a:rPr lang="" altLang="en-US" sz="2200" dirty="0">
                <a:latin typeface="+mj-lt"/>
              </a:rPr>
              <a:t>đư</a:t>
            </a:r>
            <a:r>
              <a:rPr lang="en-US" altLang="en-US" sz="2200" dirty="0">
                <a:latin typeface="+mj-lt"/>
              </a:rPr>
              <a:t>ợc nhiều “</a:t>
            </a:r>
            <a:r>
              <a:rPr lang="" altLang="en-US" sz="2200" dirty="0">
                <a:latin typeface="+mj-lt"/>
              </a:rPr>
              <a:t>đ</a:t>
            </a:r>
            <a:r>
              <a:rPr lang="en-US" altLang="en-US" sz="2200" dirty="0">
                <a:latin typeface="+mj-lt"/>
              </a:rPr>
              <a:t>iểm </a:t>
            </a:r>
            <a:r>
              <a:rPr lang="" altLang="en-US" sz="2200" dirty="0">
                <a:latin typeface="+mj-lt"/>
              </a:rPr>
              <a:t>đ</a:t>
            </a:r>
            <a:r>
              <a:rPr lang="en-US" altLang="en-US" sz="2200" dirty="0">
                <a:latin typeface="+mj-lt"/>
              </a:rPr>
              <a:t>au” nh</a:t>
            </a:r>
            <a:r>
              <a:rPr lang="" altLang="en-US" sz="2200" dirty="0">
                <a:latin typeface="+mj-lt"/>
              </a:rPr>
              <a:t>ư</a:t>
            </a:r>
            <a:r>
              <a:rPr lang="en-US" altLang="en-US" sz="2200" dirty="0">
                <a:latin typeface="+mj-lt"/>
              </a:rPr>
              <a:t> ngại giao tiếp, khó nghe – nói, dễ quên từ vựng và thiếu ph</a:t>
            </a:r>
            <a:r>
              <a:rPr lang="" altLang="en-US" sz="2200" dirty="0">
                <a:latin typeface="+mj-lt"/>
              </a:rPr>
              <a:t>ư</a:t>
            </a:r>
            <a:r>
              <a:rPr lang="en-US" altLang="en-US" sz="2200" dirty="0">
                <a:latin typeface="+mj-lt"/>
              </a:rPr>
              <a:t>ơng pháp tự học phù hợp. Dù vẫn còn một số hạn chế về tính n</a:t>
            </a:r>
            <a:r>
              <a:rPr lang="" altLang="en-US" sz="2200" dirty="0">
                <a:latin typeface="+mj-lt"/>
              </a:rPr>
              <a:t>ă</a:t>
            </a:r>
            <a:r>
              <a:rPr lang="en-US" altLang="en-US" sz="2200" dirty="0">
                <a:latin typeface="+mj-lt"/>
              </a:rPr>
              <a:t>ng và phạm vi thử nghiệm, dự án </a:t>
            </a:r>
            <a:r>
              <a:rPr lang="" altLang="en-US" sz="2200" dirty="0">
                <a:latin typeface="+mj-lt"/>
              </a:rPr>
              <a:t>đ</a:t>
            </a:r>
            <a:r>
              <a:rPr lang="en-US" altLang="en-US" sz="2200" dirty="0">
                <a:latin typeface="+mj-lt"/>
              </a:rPr>
              <a:t>ã tạo nền tảng vững chắc </a:t>
            </a:r>
            <a:r>
              <a:rPr lang="" altLang="en-US" sz="2200" dirty="0">
                <a:latin typeface="+mj-lt"/>
              </a:rPr>
              <a:t>đ</a:t>
            </a:r>
            <a:r>
              <a:rPr lang="en-US" altLang="en-US" sz="2200" dirty="0">
                <a:latin typeface="+mj-lt"/>
              </a:rPr>
              <a:t>ể phát triển thành một sản phẩm ứng dụng thực tế trong t</a:t>
            </a:r>
            <a:r>
              <a:rPr lang="" altLang="en-US" sz="2200" dirty="0">
                <a:latin typeface="+mj-lt"/>
              </a:rPr>
              <a:t>ư</a:t>
            </a:r>
            <a:r>
              <a:rPr lang="en-US" altLang="en-US" sz="2200" dirty="0">
                <a:latin typeface="+mj-lt"/>
              </a:rPr>
              <a:t>ơng lai.</a:t>
            </a:r>
            <a:endParaRPr lang="en-US" altLang="en-US" sz="2200" dirty="0">
              <a:latin typeface="+mj-lt"/>
            </a:endParaRPr>
          </a:p>
        </p:txBody>
      </p:sp>
      <p:sp>
        <p:nvSpPr>
          <p:cNvPr id="7" name="TextBox 6"/>
          <p:cNvSpPr txBox="1"/>
          <p:nvPr/>
        </p:nvSpPr>
        <p:spPr>
          <a:xfrm>
            <a:off x="88900" y="3778893"/>
            <a:ext cx="8954770" cy="2491740"/>
          </a:xfrm>
          <a:prstGeom prst="rect">
            <a:avLst/>
          </a:prstGeom>
          <a:noFill/>
        </p:spPr>
        <p:txBody>
          <a:bodyPr wrap="square">
            <a:spAutoFit/>
          </a:bodyPr>
          <a:lstStyle/>
          <a:p>
            <a:r>
              <a:rPr lang="vi-VN" sz="2400" b="1" dirty="0">
                <a:latin typeface="Times New Roman" panose="02020603050405020304" pitchFamily="18" charset="0"/>
                <a:cs typeface="Times New Roman" panose="02020603050405020304" pitchFamily="18" charset="0"/>
              </a:rPr>
              <a:t>Hướng phát triển:</a:t>
            </a:r>
            <a:br>
              <a:rPr lang="vi-VN" sz="2200" dirty="0">
                <a:latin typeface="Times New Roman" panose="02020603050405020304" pitchFamily="18" charset="0"/>
                <a:cs typeface="Times New Roman" panose="02020603050405020304" pitchFamily="18" charset="0"/>
              </a:rPr>
            </a:br>
            <a:r>
              <a:rPr lang="en-US" altLang="en-US" sz="2200" dirty="0">
                <a:latin typeface="Times New Roman" panose="02020603050405020304" pitchFamily="18" charset="0"/>
                <a:cs typeface="Times New Roman" panose="02020603050405020304" pitchFamily="18" charset="0"/>
              </a:rPr>
              <a:t>Tiếp tục hoàn thiện giao diện và mở rộng tính n</a:t>
            </a:r>
            <a:r>
              <a:rPr lang="" altLang="en-US" sz="2200" dirty="0">
                <a:latin typeface="Times New Roman" panose="02020603050405020304" pitchFamily="18" charset="0"/>
                <a:cs typeface="Times New Roman" panose="02020603050405020304" pitchFamily="18" charset="0"/>
              </a:rPr>
              <a:t>ă</a:t>
            </a:r>
            <a:r>
              <a:rPr lang="en-US" altLang="en-US" sz="2200" dirty="0">
                <a:latin typeface="Times New Roman" panose="02020603050405020304" pitchFamily="18" charset="0"/>
                <a:cs typeface="Times New Roman" panose="02020603050405020304" pitchFamily="18" charset="0"/>
              </a:rPr>
              <a:t>ng (auto-save, </a:t>
            </a:r>
            <a:r>
              <a:rPr lang="" altLang="en-US" sz="2200" dirty="0">
                <a:latin typeface="Times New Roman" panose="02020603050405020304" pitchFamily="18" charset="0"/>
                <a:cs typeface="Times New Roman" panose="02020603050405020304" pitchFamily="18" charset="0"/>
              </a:rPr>
              <a:t>đ</a:t>
            </a:r>
            <a:r>
              <a:rPr lang="en-US" altLang="en-US" sz="2200" dirty="0">
                <a:latin typeface="Times New Roman" panose="02020603050405020304" pitchFamily="18" charset="0"/>
                <a:cs typeface="Times New Roman" panose="02020603050405020304" pitchFamily="18" charset="0"/>
              </a:rPr>
              <a:t>iều h</a:t>
            </a:r>
            <a:r>
              <a:rPr lang="" altLang="en-US" sz="2200" dirty="0">
                <a:latin typeface="Times New Roman" panose="02020603050405020304" pitchFamily="18" charset="0"/>
                <a:cs typeface="Times New Roman" panose="02020603050405020304" pitchFamily="18" charset="0"/>
              </a:rPr>
              <a:t>ư</a:t>
            </a:r>
            <a:r>
              <a:rPr lang="en-US" altLang="en-US" sz="2200" dirty="0">
                <a:latin typeface="Times New Roman" panose="02020603050405020304" pitchFamily="18" charset="0"/>
                <a:cs typeface="Times New Roman" panose="02020603050405020304" pitchFamily="18" charset="0"/>
              </a:rPr>
              <a:t>ớng thông minh, bài học phong phú hơn); nâng cấp AI </a:t>
            </a:r>
            <a:r>
              <a:rPr lang="" altLang="en-US" sz="2200" dirty="0">
                <a:latin typeface="Times New Roman" panose="02020603050405020304" pitchFamily="18" charset="0"/>
                <a:cs typeface="Times New Roman" panose="02020603050405020304" pitchFamily="18" charset="0"/>
              </a:rPr>
              <a:t>đ</a:t>
            </a:r>
            <a:r>
              <a:rPr lang="en-US" altLang="en-US" sz="2200" dirty="0">
                <a:latin typeface="Times New Roman" panose="02020603050405020304" pitchFamily="18" charset="0"/>
                <a:cs typeface="Times New Roman" panose="02020603050405020304" pitchFamily="18" charset="0"/>
              </a:rPr>
              <a:t>ể nhận diện giọng nói chính xác hơn và hỗ trợ trò chuyện tự nhiên; triển khai </a:t>
            </a:r>
            <a:r>
              <a:rPr lang="" altLang="en-US" sz="2200" dirty="0">
                <a:latin typeface="Times New Roman" panose="02020603050405020304" pitchFamily="18" charset="0"/>
                <a:cs typeface="Times New Roman" panose="02020603050405020304" pitchFamily="18" charset="0"/>
              </a:rPr>
              <a:t>đ</a:t>
            </a:r>
            <a:r>
              <a:rPr lang="en-US" altLang="en-US" sz="2200" dirty="0">
                <a:latin typeface="Times New Roman" panose="02020603050405020304" pitchFamily="18" charset="0"/>
                <a:cs typeface="Times New Roman" panose="02020603050405020304" pitchFamily="18" charset="0"/>
              </a:rPr>
              <a:t>a nền tảng, </a:t>
            </a:r>
            <a:r>
              <a:rPr lang="" altLang="en-US" sz="2200" dirty="0">
                <a:latin typeface="Times New Roman" panose="02020603050405020304" pitchFamily="18" charset="0"/>
                <a:cs typeface="Times New Roman" panose="02020603050405020304" pitchFamily="18" charset="0"/>
              </a:rPr>
              <a:t>đ</a:t>
            </a:r>
            <a:r>
              <a:rPr lang="en-US" altLang="en-US" sz="2200" dirty="0">
                <a:latin typeface="Times New Roman" panose="02020603050405020304" pitchFamily="18" charset="0"/>
                <a:cs typeface="Times New Roman" panose="02020603050405020304" pitchFamily="18" charset="0"/>
              </a:rPr>
              <a:t>ặc biệt trên Android và hỗ trợ sử dụng offline. </a:t>
            </a:r>
            <a:r>
              <a:rPr lang="" altLang="en-US" sz="2200" dirty="0">
                <a:latin typeface="Times New Roman" panose="02020603050405020304" pitchFamily="18" charset="0"/>
                <a:cs typeface="Times New Roman" panose="02020603050405020304" pitchFamily="18" charset="0"/>
              </a:rPr>
              <a:t>Đ</a:t>
            </a:r>
            <a:r>
              <a:rPr lang="en-US" altLang="en-US" sz="2200" dirty="0">
                <a:latin typeface="Times New Roman" panose="02020603050405020304" pitchFamily="18" charset="0"/>
                <a:cs typeface="Times New Roman" panose="02020603050405020304" pitchFamily="18" charset="0"/>
              </a:rPr>
              <a:t>ồng thời mở rộng thử nghiệm trên nhiều nhóm học sinh THPT hơn và hợp tác với các tr</a:t>
            </a:r>
            <a:r>
              <a:rPr lang="" altLang="en-US" sz="2200" dirty="0">
                <a:latin typeface="Times New Roman" panose="02020603050405020304" pitchFamily="18" charset="0"/>
                <a:cs typeface="Times New Roman" panose="02020603050405020304" pitchFamily="18" charset="0"/>
              </a:rPr>
              <a:t>ư</a:t>
            </a:r>
            <a:r>
              <a:rPr lang="en-US" altLang="en-US" sz="2200" dirty="0">
                <a:latin typeface="Times New Roman" panose="02020603050405020304" pitchFamily="18" charset="0"/>
                <a:cs typeface="Times New Roman" panose="02020603050405020304" pitchFamily="18" charset="0"/>
              </a:rPr>
              <a:t>ờng học </a:t>
            </a:r>
            <a:r>
              <a:rPr lang="" altLang="en-US" sz="2200" dirty="0">
                <a:latin typeface="Times New Roman" panose="02020603050405020304" pitchFamily="18" charset="0"/>
                <a:cs typeface="Times New Roman" panose="02020603050405020304" pitchFamily="18" charset="0"/>
              </a:rPr>
              <a:t>đ</a:t>
            </a:r>
            <a:r>
              <a:rPr lang="en-US" altLang="en-US" sz="2200" dirty="0">
                <a:latin typeface="Times New Roman" panose="02020603050405020304" pitchFamily="18" charset="0"/>
                <a:cs typeface="Times New Roman" panose="02020603050405020304" pitchFamily="18" charset="0"/>
              </a:rPr>
              <a:t>ể </a:t>
            </a:r>
            <a:r>
              <a:rPr lang="" altLang="en-US" sz="2200" dirty="0">
                <a:latin typeface="Times New Roman" panose="02020603050405020304" pitchFamily="18" charset="0"/>
                <a:cs typeface="Times New Roman" panose="02020603050405020304" pitchFamily="18" charset="0"/>
              </a:rPr>
              <a:t>đ</a:t>
            </a:r>
            <a:r>
              <a:rPr lang="en-US" altLang="en-US" sz="2200" dirty="0">
                <a:latin typeface="Times New Roman" panose="02020603050405020304" pitchFamily="18" charset="0"/>
                <a:cs typeface="Times New Roman" panose="02020603050405020304" pitchFamily="18" charset="0"/>
              </a:rPr>
              <a:t>ánh giá hiệu quả ứng dụng trong thực tế.</a:t>
            </a:r>
            <a:endParaRPr lang="en-US" alt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230" y="90170"/>
            <a:ext cx="8854440" cy="959485"/>
          </a:xfrm>
        </p:spPr>
        <p:txBody>
          <a:bodyPr/>
          <a:lstStyle/>
          <a:p>
            <a:r>
              <a:rPr lang="vi-VN" altLang="en-US" sz="3300" dirty="0"/>
              <a:t>CHƯƠNG V: </a:t>
            </a:r>
            <a:r>
              <a:rPr lang="vi-VN" altLang="en-US" sz="3300" dirty="0">
                <a:sym typeface="+mn-ea"/>
              </a:rPr>
              <a:t>KẾT</a:t>
            </a:r>
            <a:r>
              <a:rPr lang="vi-VN" altLang="en-US" sz="3300" dirty="0"/>
              <a:t> LUẬN   </a:t>
            </a:r>
            <a:endParaRPr lang="vi-VN" altLang="en-US" sz="3300" dirty="0"/>
          </a:p>
        </p:txBody>
      </p:sp>
      <p:sp>
        <p:nvSpPr>
          <p:cNvPr id="7" name="TextBox 6"/>
          <p:cNvSpPr txBox="1"/>
          <p:nvPr/>
        </p:nvSpPr>
        <p:spPr>
          <a:xfrm>
            <a:off x="2048934" y="2177534"/>
            <a:ext cx="5494867" cy="1753235"/>
          </a:xfrm>
          <a:prstGeom prst="rect">
            <a:avLst/>
          </a:prstGeom>
          <a:noFill/>
        </p:spPr>
        <p:txBody>
          <a:bodyPr wrap="square">
            <a:spAutoFit/>
          </a:bodyPr>
          <a:lstStyle/>
          <a:p>
            <a:pPr algn="ctr">
              <a:spcAft>
                <a:spcPct val="0"/>
              </a:spcAft>
            </a:pPr>
            <a:r>
              <a:rPr lang="vi-VN" sz="5400" dirty="0">
                <a:latin typeface="Times New Roman" panose="02020603050405020304" pitchFamily="18" charset="0"/>
                <a:cs typeface="Times New Roman" panose="02020603050405020304" pitchFamily="18" charset="0"/>
              </a:rPr>
              <a:t>Cám ơn mọi người đã lắng nghe</a:t>
            </a:r>
            <a:r>
              <a:rPr lang="en-US" altLang="vi-VN" sz="5400" dirty="0">
                <a:latin typeface="Times New Roman" panose="02020603050405020304" pitchFamily="18" charset="0"/>
                <a:cs typeface="Times New Roman" panose="02020603050405020304" pitchFamily="18" charset="0"/>
              </a:rPr>
              <a:t> !</a:t>
            </a:r>
            <a:endParaRPr lang="en-US" altLang="vi-VN" sz="5400" dirty="0">
              <a:latin typeface="Times New Roman" panose="02020603050405020304" pitchFamily="18" charset="0"/>
              <a:cs typeface="Times New Roman" panose="02020603050405020304" pitchFamily="18" charset="0"/>
            </a:endParaRPr>
          </a:p>
        </p:txBody>
      </p:sp>
    </p:spTree>
  </p:cSld>
  <p:clrMapOvr>
    <a:masterClrMapping/>
  </p:clrMapOvr>
</p:sld>
</file>

<file path=ppt/tags/tag1.xml><?xml version="1.0" encoding="utf-8"?>
<p:tagLst xmlns:p="http://schemas.openxmlformats.org/presentationml/2006/main">
  <p:tag name="KSO_WM_DIAGRAM_VIRTUALLY_FRAME" val="{&quot;height&quot;:289.224094488189,&quot;left&quot;:-13.694803149606297,&quot;top&quot;:131.14031496062992,&quot;width&quot;:739.2682677165355}"/>
</p:tagLst>
</file>

<file path=ppt/tags/tag2.xml><?xml version="1.0" encoding="utf-8"?>
<p:tagLst xmlns:p="http://schemas.openxmlformats.org/presentationml/2006/main">
  <p:tag name="KSO_WM_DIAGRAM_VIRTUALLY_FRAME" val="{&quot;height&quot;:289.224094488189,&quot;left&quot;:-13.694803149606297,&quot;top&quot;:131.14031496062992,&quot;width&quot;:739.2682677165355}"/>
</p:tagLst>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6743</Words>
  <Application>WPS Presentation</Application>
  <PresentationFormat>On-screen Show (4:3)</PresentationFormat>
  <Paragraphs>148</Paragraphs>
  <Slides>14</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14</vt:i4>
      </vt:variant>
    </vt:vector>
  </HeadingPairs>
  <TitlesOfParts>
    <vt:vector size="23" baseType="lpstr">
      <vt:lpstr>Arial</vt:lpstr>
      <vt:lpstr>SimSun</vt:lpstr>
      <vt:lpstr>Wingdings</vt:lpstr>
      <vt:lpstr>Arial</vt:lpstr>
      <vt:lpstr>Times New Roman</vt:lpstr>
      <vt:lpstr>Calibri</vt:lpstr>
      <vt:lpstr>Microsoft YaHei</vt:lpstr>
      <vt:lpstr>Arial Unicode MS</vt:lpstr>
      <vt:lpstr>Art_mountaineering</vt:lpstr>
      <vt:lpstr>PowerPoint 演示文稿</vt:lpstr>
      <vt:lpstr>CHƯƠNG I: GIỚI THIỆU</vt:lpstr>
      <vt:lpstr>CHƯƠNG II: PHƯƠNG PHÁP NGHIÊN CỨU</vt:lpstr>
      <vt:lpstr>CHƯƠNG II: PHƯƠNG PHÁP NGHIÊN CỨU</vt:lpstr>
      <vt:lpstr>CHƯƠNG III: KẾT QUẢ NGHIÊN CỨU</vt:lpstr>
      <vt:lpstr>CHƯƠNG III: KẾT QUẢ NGHIÊN CỨU</vt:lpstr>
      <vt:lpstr>CHƯƠNG III: KẾT QUẢ NGHIÊN CỨU</vt:lpstr>
      <vt:lpstr>CHƯƠNG III: KẾT QUẢ NGHIÊN CỨU</vt:lpstr>
      <vt:lpstr>CHƯƠNG III: KẾT QUẢ NGHIÊN CỨU</vt:lpstr>
      <vt:lpstr>CHƯƠNG III: KẾT QUẢ NGHIÊN CỨU</vt:lpstr>
      <vt:lpstr>CHƯƠNG III: KẾT QUẢ NGHIÊN CỨU</vt:lpstr>
      <vt:lpstr>CHƯƠNG IV: THẢO LUẬN KẾT QUẢ </vt:lpstr>
      <vt:lpstr>CHƯƠNG V: KẾT LUẬN   </vt:lpstr>
      <vt:lpstr>CHƯƠNG V: KẾT LUẬN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1: TỔNG QUAN VỀ QUẢN LÝ DỰ ÁN PHẦN MỀM</dc:title>
  <dc:creator>Khac Quoc</dc:creator>
  <dc:description>generated using python-pptx</dc:description>
  <cp:lastModifiedBy>Dame Rom</cp:lastModifiedBy>
  <cp:revision>38</cp:revision>
  <dcterms:created xsi:type="dcterms:W3CDTF">2013-01-27T09:14:00Z</dcterms:created>
  <dcterms:modified xsi:type="dcterms:W3CDTF">2025-12-12T05:14:17Z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03901381A5E343B894E381991CBA656E_12</vt:lpwstr>
  </property>
  <property fmtid="{D5CDD505-2E9C-101B-9397-08002B2CF9AE}" pid="3" name="KSOProductBuildVer">
    <vt:lpwstr>1033-12.2.0.23155</vt:lpwstr>
  </property>
</Properties>
</file>